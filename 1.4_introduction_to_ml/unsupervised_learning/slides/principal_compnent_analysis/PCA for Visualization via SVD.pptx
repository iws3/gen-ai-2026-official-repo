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B0604020202020204" charset="0"/>
      <p:regular r:id="rId19"/>
      <p:bold r:id="rId20"/>
      <p:italic r:id="rId21"/>
      <p:boldItalic r:id="rId22"/>
    </p:embeddedFont>
    <p:embeddedFont>
      <p:font typeface="Poppins Medium" panose="020B0604020202020204" charset="0"/>
      <p:regular r:id="rId23"/>
      <p:bold r:id="rId24"/>
      <p:italic r:id="rId25"/>
      <p:boldItalic r:id="rId26"/>
    </p:embeddedFont>
    <p:embeddedFont>
      <p:font typeface="Poppins" panose="020B0604020202020204" charset="0"/>
      <p:regular r:id="rId27"/>
      <p:bold r:id="rId28"/>
      <p:italic r:id="rId29"/>
      <p:boldItalic r:id="rId30"/>
    </p:embeddedFont>
    <p:embeddedFont>
      <p:font typeface="Lato Light" panose="020F0302020204030203" charset="0"/>
      <p:regular r:id="rId31"/>
      <p:bold r:id="rId32"/>
      <p:italic r:id="rId33"/>
      <p:boldItalic r:id="rId34"/>
    </p:embeddedFont>
    <p:embeddedFont>
      <p:font typeface="Poppins SemiBold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36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201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823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005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592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4383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38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0017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4812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7660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5368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839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1706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5561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60594" y="1510535"/>
            <a:ext cx="6470808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PCA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for </a:t>
            </a:r>
            <a:r>
              <a:rPr lang="en-US" sz="4800" b="1" i="0" u="none" strike="noStrike" cap="none" dirty="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r>
              <a:rPr lang="en-US" sz="18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8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via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SVD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4322983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14661" y="4719115"/>
            <a:ext cx="61626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Lato Light"/>
                <a:ea typeface="Lato Light"/>
                <a:cs typeface="Lato Light"/>
                <a:sym typeface="Lato Light"/>
              </a:rPr>
              <a:t>Extracting hidden structures from high-dimensional data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66950"/>
            <a:ext cx="52387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22669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Sparsity Issues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87655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As dimensionality increases, the "volume" of space grows exponentially, making available data points increasingly sparse.</a:t>
            </a:r>
            <a:endParaRPr/>
          </a:p>
        </p:txBody>
      </p:sp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66950"/>
            <a:ext cx="5238750" cy="3276600"/>
          </a:xfrm>
          <a:prstGeom prst="rect">
            <a:avLst/>
          </a:prstGeom>
          <a:noFill/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  <p:sp>
        <p:nvSpPr>
          <p:cNvPr id="98" name="Google Shape;98;p14"/>
          <p:cNvSpPr txBox="1"/>
          <p:nvPr/>
        </p:nvSpPr>
        <p:spPr>
          <a:xfrm>
            <a:off x="1000125" y="402907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Points are located far apart in high-D space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45339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Distance metrics lose their meaning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50387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Patterns become "invisible" to standard tools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67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7200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768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The Curse of Dimensionality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93345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Cognitive Limits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188595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Visualization Barrier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63842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Human perception is evolutionarily optimized for 3 dimensions. Modern datasets often contain hundreds or thousands of features (dimensions).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00125" y="394335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Cannot plot 10D data on a screen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00125" y="4448175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Relationships remain hidden in high-D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4953000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Critical need: Reduce dimensions while keeping the "Signal"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814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86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91100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52387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6381750" y="22669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Shadow Analogy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81750" y="287655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Just as a 3D object casts a 2D shadow that retains its core shape, PCA projects high-D data onto a lower-dimensional subspace.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810375" y="402907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Compress features into "Principal Components"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810375" y="45339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Flatten the data onto the most informative plane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810375" y="50387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PC1 and PC2 become your X and Y axes</a:t>
            </a:r>
            <a:endParaRPr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671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5720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50768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Solution: Dimensionality Reduction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1"/>
          <a:stretch/>
        </p:blipFill>
        <p:spPr>
          <a:xfrm>
            <a:off x="881593" y="2415551"/>
            <a:ext cx="4928657" cy="2979398"/>
          </a:xfrm>
          <a:prstGeom prst="rect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804862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Strategy: Maximize Variance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328862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Capturing the Signal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308133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PCA identifies the axes along which the data varies the most. These axes (Principal Components) capture the maximum "information" or "spread".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00125" y="4386262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PC1: Direction of largest spread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00125" y="48910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PC2: Second largest spread (orthogonal)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5395912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 variance = High Information content</a:t>
            </a:r>
            <a:endParaRPr/>
          </a:p>
        </p:txBody>
      </p:sp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43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291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4340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5900737" y="1088230"/>
            <a:ext cx="5419725" cy="49291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0737" y="1088229"/>
            <a:ext cx="5419725" cy="4929187"/>
          </a:xfrm>
          <a:prstGeom prst="rect">
            <a:avLst/>
          </a:prstGeom>
          <a:noFill/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14512"/>
            <a:ext cx="5238750" cy="41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866775" y="2109787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Preserving Data Integrity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66775" y="2719387"/>
            <a:ext cx="46482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While reducing dimensions, PCA ensures the projected points are as close to the original points as possible.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359092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"The best projection is the one where the original data points are least disturbed."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295400" y="3871912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Minimizes the "distance" lost during projection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95400" y="4691062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Retains global structure of clusters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1295400" y="5195887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Naturally filters out low-variance "Noise"</a:t>
            </a:r>
            <a:endParaRPr/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775" y="39100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4729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52339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Goal: Minimize Reconstruction Error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2301"/>
            <a:ext cx="5238750" cy="3365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46301"/>
            <a:ext cx="5238750" cy="112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2222301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Matrix Factorization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2831901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SVD decomposes any data matrix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into three unique matrices that reveal the underlying geometric structure.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159424"/>
            <a:ext cx="5238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Where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</a:t>
            </a: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contains the Principal Components.</a:t>
            </a:r>
            <a:endParaRPr/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127301"/>
            <a:ext cx="4476750" cy="365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Engine: Singular Value Decomposition</a:t>
            </a:r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0" y="2337664"/>
            <a:ext cx="5380661" cy="3106447"/>
          </a:xfrm>
          <a:prstGeom prst="rect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52387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6381750" y="22669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Avoid the Covariance Matrix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287655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Traditional PCA requires computing the covariance matrix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XᵀX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which can lead to significant precision loss due to "squaring" the data.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810375" y="402907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SVD works directly on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810375" y="45339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Higher precision for small variations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810375" y="50387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Handles "ill-conditioned" matrices robustly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67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50768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Advantage: Numerical Stability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266950"/>
            <a:ext cx="5380661" cy="3106447"/>
          </a:xfrm>
          <a:prstGeom prst="rect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22669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Scalability for Big Data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876550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implementations use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Truncated SVD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which computes only the top 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components needed for visualization.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000125" y="402907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Significantly faster for large datasets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000125" y="45339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Lower memory footprint (no XᵀX storage)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000125" y="50387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Industry standard in Scikit-Learn &amp; NumPy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671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720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768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Advantage: Computational Efficiency</a:t>
            </a:r>
            <a:endParaRPr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127" y="2277010"/>
            <a:ext cx="5380661" cy="3106447"/>
          </a:xfrm>
          <a:prstGeom prst="rect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1587"/>
            <a:ext cx="5238750" cy="526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271587"/>
            <a:ext cx="5238750" cy="5267325"/>
          </a:xfrm>
          <a:prstGeom prst="rect">
            <a:avLst/>
          </a:prstGeom>
          <a:noFill/>
          <a:ln w="76200">
            <a:solidFill>
              <a:schemeClr val="bg2">
                <a:lumMod val="60000"/>
                <a:lumOff val="40000"/>
              </a:schemeClr>
            </a:solidFill>
          </a:ln>
        </p:spPr>
      </p:pic>
      <p:sp>
        <p:nvSpPr>
          <p:cNvPr id="219" name="Google Shape;219;p22"/>
          <p:cNvSpPr txBox="1"/>
          <p:nvPr/>
        </p:nvSpPr>
        <p:spPr>
          <a:xfrm>
            <a:off x="6381750" y="127158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Final Takeaways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381750" y="188118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By leveraging SVD, PCA provides a robust and efficient way to map complex data into a visual subspace.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810375" y="271938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Unveils hidden patterns and clusters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810375" y="3224212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Mitigates the Curse of Dimensionality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810375" y="3729037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Foundation for exploratory data analysis</a:t>
            </a:r>
            <a:endParaRPr/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7574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262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76713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71500" y="31908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Conclusion: From Math to Insight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/>
          <p:nvPr/>
        </p:nvSpPr>
        <p:spPr>
          <a:xfrm>
            <a:off x="571500" y="1595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71500" y="23669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71500" y="39100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71500" y="4681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2357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31289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571500" y="4672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5443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1666875" y="17454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https://datasciencedojo.com/wp-content/uploads/2025/10/Image_fx64-4.jpg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1666875" y="19788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datasciencedojo.com</a:t>
            </a:r>
            <a:endParaRPr/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1666875" y="2516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https://miro.medium.com/v2/resize:fit:1032/1*yjIZYS_mBOt8xOc3ROxKLQ.png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1666875" y="2750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https://cdn.teachoo.com/b305798f-6c92-4539-9dd0-c252d88ede5e/slide19.jpg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www.teachoo.com</a:t>
            </a:r>
            <a:endParaRPr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https://www.graphpad.com/guides/prism/latest/statistics/images/hmfile_hash_d1fa5d0a.png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www.graphpad.com</a:t>
            </a:r>
            <a:endParaRPr/>
          </a:p>
        </p:txBody>
      </p:sp>
      <p:pic>
        <p:nvPicPr>
          <p:cNvPr id="260" name="Google Shape;26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1666875" y="4831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https://miro.medium.com/v2/resize:fit:1400/1*ktLbtPeMY-7xkpBLve3BXQ.png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666875" y="5064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pub.towardsai.net</a:t>
            </a:r>
            <a:endParaRPr/>
          </a:p>
        </p:txBody>
      </p:sp>
      <p:pic>
        <p:nvPicPr>
          <p:cNvPr id="263" name="Google Shape;26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1666875" y="56030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https://upload.wikimedia.org/wikipedia/commons/thumb/4/4c/30_St_Mary_Axe_from_Leadenhall_Street.jpg/330px-30_St_Mary_Axe_from_Leadenhall_Street.jpg</a:t>
            </a:r>
            <a:endParaRPr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1666875" y="58364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4"/>
          <p:cNvSpPr/>
          <p:nvPr/>
        </p:nvSpPr>
        <p:spPr>
          <a:xfrm>
            <a:off x="571500" y="31384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571500" y="39004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1666875" y="32885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https://upload.wikimedia.org/wikipedia/commons/thumb/d/d3/IBM_Blue_Gene_P_supercomputer.jpg/1280px-IBM_Blue_Gene_P_supercomputer.jpg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666875" y="35218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id="278" name="Google Shape;27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1666875" y="40600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https://inkly.cloud/wp-content/uploads/2026/01/2d-scatter-plot-showing-three-distinct-data-cluste-1768878055612.webp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1666875" y="42933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inkly.cloud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501</Words>
  <Application>Microsoft Office PowerPoint</Application>
  <PresentationFormat>Widescreen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Lato</vt:lpstr>
      <vt:lpstr>Poppins Medium</vt:lpstr>
      <vt:lpstr>Poppins</vt:lpstr>
      <vt:lpstr>Lato Light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Leo</dc:creator>
  <cp:lastModifiedBy>Microsoft account</cp:lastModifiedBy>
  <cp:revision>4</cp:revision>
  <dcterms:modified xsi:type="dcterms:W3CDTF">2026-06-04T08:48:45Z</dcterms:modified>
</cp:coreProperties>
</file>