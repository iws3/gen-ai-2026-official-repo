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78" r:id="rId7"/>
    <p:sldId id="296" r:id="rId8"/>
    <p:sldId id="279" r:id="rId9"/>
    <p:sldId id="280" r:id="rId10"/>
    <p:sldId id="281" r:id="rId11"/>
    <p:sldId id="282" r:id="rId12"/>
    <p:sldId id="297" r:id="rId13"/>
    <p:sldId id="312" r:id="rId14"/>
    <p:sldId id="283" r:id="rId15"/>
    <p:sldId id="313" r:id="rId16"/>
    <p:sldId id="298" r:id="rId17"/>
    <p:sldId id="307" r:id="rId18"/>
    <p:sldId id="31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253"/>
    <a:srgbClr val="DA9E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7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600" y="1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5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6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9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0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4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0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7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0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4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2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2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5B4BB-49AC-480C-9981-7EDFCC34E7A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4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>
                <a:latin typeface="Franklin Gothic Demi" panose="020B0703020102020204" pitchFamily="34" charset="0"/>
              </a:rPr>
              <a:t>MACHINE</a:t>
            </a:r>
          </a:p>
          <a:p>
            <a:pPr algn="ctr"/>
            <a:r>
              <a:rPr lang="en-US" sz="88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  <a:endParaRPr lang="en-US" sz="88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971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latin typeface="+mj-lt"/>
              </a:rPr>
              <a:t>What is </a:t>
            </a:r>
          </a:p>
          <a:p>
            <a:pPr algn="ctr"/>
            <a:r>
              <a:rPr lang="en-US" sz="88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LEARNING?</a:t>
            </a:r>
            <a:endParaRPr lang="en-US" sz="88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821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7434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i="1" dirty="0" smtClean="0">
                <a:solidFill>
                  <a:srgbClr val="00B0F0"/>
                </a:solidFill>
              </a:rPr>
              <a:t>Learning</a:t>
            </a:r>
            <a:r>
              <a:rPr lang="en-US" sz="5400" i="1" dirty="0" smtClean="0"/>
              <a:t> is the  </a:t>
            </a:r>
            <a:r>
              <a:rPr lang="en-US" sz="5400" i="1" dirty="0"/>
              <a:t>acquisition of knowledge or skills through </a:t>
            </a:r>
            <a:r>
              <a:rPr lang="en-US" sz="5400" b="1" i="1" dirty="0"/>
              <a:t>study</a:t>
            </a:r>
            <a:r>
              <a:rPr lang="en-US" sz="5400" i="1" dirty="0"/>
              <a:t>, </a:t>
            </a:r>
            <a:r>
              <a:rPr lang="en-US" sz="5400" b="1" i="1" dirty="0"/>
              <a:t>experience</a:t>
            </a:r>
            <a:r>
              <a:rPr lang="en-US" sz="5400" i="1" dirty="0"/>
              <a:t>, or </a:t>
            </a:r>
            <a:r>
              <a:rPr lang="en-US" sz="5400" b="1" i="1" dirty="0"/>
              <a:t>being taught</a:t>
            </a:r>
            <a:r>
              <a:rPr lang="en-US" sz="3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7045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64184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i="1" dirty="0" smtClean="0">
                <a:solidFill>
                  <a:srgbClr val="00B0F0"/>
                </a:solidFill>
              </a:rPr>
              <a:t>Machine Learning</a:t>
            </a:r>
            <a:r>
              <a:rPr lang="en-US" sz="5400" i="1" dirty="0" smtClean="0"/>
              <a:t> </a:t>
            </a:r>
            <a:r>
              <a:rPr lang="en-US" sz="4400" i="1" dirty="0"/>
              <a:t>is a type of </a:t>
            </a:r>
            <a:r>
              <a:rPr lang="en-US" sz="4400" i="1" dirty="0">
                <a:solidFill>
                  <a:srgbClr val="FF0000"/>
                </a:solidFill>
              </a:rPr>
              <a:t>artificial intelligence </a:t>
            </a:r>
            <a:r>
              <a:rPr lang="en-US" sz="4400" i="1" dirty="0"/>
              <a:t>that allows machines to learn from </a:t>
            </a:r>
            <a:r>
              <a:rPr lang="en-US" sz="4400" b="1" i="1" dirty="0"/>
              <a:t>data</a:t>
            </a:r>
            <a:r>
              <a:rPr lang="en-US" sz="4400" i="1" dirty="0"/>
              <a:t> without being explicitly programmed. </a:t>
            </a:r>
            <a:endParaRPr lang="en-US" sz="4400" b="1" i="1" dirty="0"/>
          </a:p>
        </p:txBody>
      </p:sp>
    </p:spTree>
    <p:extLst>
      <p:ext uri="{BB962C8B-B14F-4D97-AF65-F5344CB8AC3E}">
        <p14:creationId xmlns:p14="http://schemas.microsoft.com/office/powerpoint/2010/main" val="595240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419217"/>
            <a:ext cx="777159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S</a:t>
            </a:r>
            <a:r>
              <a:rPr lang="en-US" sz="4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!</a:t>
            </a:r>
            <a:r>
              <a:rPr lang="en-US" sz="4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ngular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en-US" sz="4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V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alue</a:t>
            </a:r>
          </a:p>
          <a:p>
            <a:pPr algn="ctr"/>
            <a:r>
              <a:rPr lang="en-US" sz="80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D</a:t>
            </a:r>
            <a:r>
              <a:rPr lang="en-US" sz="8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e</a:t>
            </a:r>
            <a:r>
              <a:rPr lang="en-US" sz="8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compostion</a:t>
            </a:r>
            <a:endParaRPr lang="en-US" sz="8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50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3" y="67377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098" y="-2564984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3432359" y="2064749"/>
            <a:ext cx="800952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C00000"/>
                </a:solidFill>
                <a:latin typeface="Eras Bold ITC" panose="020B0907030504020204" pitchFamily="34" charset="0"/>
              </a:rPr>
              <a:t>M</a:t>
            </a:r>
            <a:r>
              <a:rPr lang="en-US" sz="6600" dirty="0" smtClean="0">
                <a:solidFill>
                  <a:srgbClr val="C00000"/>
                </a:solidFill>
                <a:latin typeface="Eras Bold ITC" panose="020B0907030504020204" pitchFamily="34" charset="0"/>
              </a:rPr>
              <a:t>atrices</a:t>
            </a:r>
            <a:r>
              <a:rPr lang="en-US" sz="6600" dirty="0" smtClean="0">
                <a:latin typeface="Eras Bold ITC" panose="020B0907030504020204" pitchFamily="34" charset="0"/>
              </a:rPr>
              <a:t> as</a:t>
            </a:r>
          </a:p>
          <a:p>
            <a:pPr algn="ctr"/>
            <a:r>
              <a:rPr lang="en-US" sz="6600" dirty="0" smtClean="0">
                <a:latin typeface="Eras Bold ITC" panose="020B0907030504020204" pitchFamily="34" charset="0"/>
              </a:rPr>
              <a:t>descriptions</a:t>
            </a:r>
            <a:endParaRPr lang="en-US" sz="6600" dirty="0">
              <a:latin typeface="Eras Bold ITC" panose="020B0907030504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4816" y="1019098"/>
            <a:ext cx="2831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How points </a:t>
            </a:r>
            <a:r>
              <a:rPr lang="en-US" b="1" dirty="0" smtClean="0">
                <a:solidFill>
                  <a:srgbClr val="C00000"/>
                </a:solidFill>
              </a:rPr>
              <a:t>change location </a:t>
            </a:r>
            <a:r>
              <a:rPr lang="en-US" b="1" dirty="0" smtClean="0"/>
              <a:t>when an object </a:t>
            </a:r>
            <a:r>
              <a:rPr lang="en-US" b="1" dirty="0" smtClean="0">
                <a:solidFill>
                  <a:srgbClr val="C00000"/>
                </a:solidFill>
              </a:rPr>
              <a:t>rotate </a:t>
            </a:r>
            <a:r>
              <a:rPr lang="en-US" b="1" dirty="0" smtClean="0"/>
              <a:t>in</a:t>
            </a:r>
            <a:r>
              <a:rPr lang="en-US" b="1" dirty="0" smtClean="0">
                <a:solidFill>
                  <a:srgbClr val="C00000"/>
                </a:solidFill>
              </a:rPr>
              <a:t> space 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14411" y="4293016"/>
            <a:ext cx="3417833" cy="369332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</a:rPr>
              <a:t>Behavior of </a:t>
            </a:r>
            <a:r>
              <a:rPr lang="en-US" b="1" dirty="0" smtClean="0">
                <a:solidFill>
                  <a:srgbClr val="C00000"/>
                </a:solidFill>
              </a:rPr>
              <a:t>point</a:t>
            </a:r>
            <a:r>
              <a:rPr lang="en-US" b="1" dirty="0" smtClean="0">
                <a:solidFill>
                  <a:srgbClr val="002060"/>
                </a:solidFill>
              </a:rPr>
              <a:t> during a </a:t>
            </a:r>
            <a:r>
              <a:rPr lang="en-US" b="1" dirty="0" smtClean="0">
                <a:solidFill>
                  <a:srgbClr val="C00000"/>
                </a:solidFill>
              </a:rPr>
              <a:t>flip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57236" y="5161245"/>
            <a:ext cx="4132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</a:rPr>
              <a:t>If we </a:t>
            </a:r>
            <a:r>
              <a:rPr lang="en-US" b="1" dirty="0" err="1" smtClean="0">
                <a:solidFill>
                  <a:srgbClr val="C00000"/>
                </a:solidFill>
              </a:rPr>
              <a:t>compress,rotate,stretch,flip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object , can you give a function to </a:t>
            </a:r>
            <a:r>
              <a:rPr lang="en-US" b="1" dirty="0" smtClean="0">
                <a:solidFill>
                  <a:srgbClr val="C00000"/>
                </a:solidFill>
              </a:rPr>
              <a:t>assign old </a:t>
            </a:r>
            <a:r>
              <a:rPr lang="en-US" b="1" dirty="0" smtClean="0">
                <a:solidFill>
                  <a:srgbClr val="002060"/>
                </a:solidFill>
              </a:rPr>
              <a:t>points to </a:t>
            </a:r>
            <a:r>
              <a:rPr lang="en-US" b="1" dirty="0" smtClean="0">
                <a:solidFill>
                  <a:srgbClr val="C00000"/>
                </a:solidFill>
              </a:rPr>
              <a:t>new</a:t>
            </a:r>
            <a:r>
              <a:rPr lang="en-US" b="1" dirty="0" smtClean="0">
                <a:solidFill>
                  <a:srgbClr val="002060"/>
                </a:solidFill>
              </a:rPr>
              <a:t> points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38108" y="1019098"/>
            <a:ext cx="2809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solidFill>
                  <a:srgbClr val="002060"/>
                </a:solidFill>
              </a:rPr>
              <a:t>How the </a:t>
            </a:r>
            <a:r>
              <a:rPr lang="en-US" b="1" dirty="0" smtClean="0">
                <a:solidFill>
                  <a:srgbClr val="C00000"/>
                </a:solidFill>
              </a:rPr>
              <a:t>points in an object move</a:t>
            </a:r>
            <a:r>
              <a:rPr lang="en-US" b="1" dirty="0" smtClean="0">
                <a:solidFill>
                  <a:srgbClr val="002060"/>
                </a:solidFill>
              </a:rPr>
              <a:t> when we apply </a:t>
            </a:r>
            <a:r>
              <a:rPr lang="en-US" b="1" dirty="0" smtClean="0">
                <a:solidFill>
                  <a:srgbClr val="C00000"/>
                </a:solidFill>
              </a:rPr>
              <a:t>stress on t</a:t>
            </a:r>
            <a:r>
              <a:rPr lang="en-US" b="1" dirty="0" smtClean="0">
                <a:solidFill>
                  <a:srgbClr val="002060"/>
                </a:solidFill>
              </a:rPr>
              <a:t>he object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87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957070" y="348585"/>
            <a:ext cx="8009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 smtClean="0">
                <a:solidFill>
                  <a:schemeClr val="accent5">
                    <a:lumMod val="50000"/>
                  </a:schemeClr>
                </a:solidFill>
                <a:latin typeface="Eras Bold ITC" panose="020B0907030504020204" pitchFamily="34" charset="0"/>
              </a:rPr>
              <a:t>Matr!ces</a:t>
            </a:r>
            <a:r>
              <a:rPr lang="en-US" sz="3600" dirty="0" smtClean="0">
                <a:solidFill>
                  <a:srgbClr val="C00000"/>
                </a:solidFill>
                <a:latin typeface="Eras Bold ITC" panose="020B0907030504020204" pitchFamily="34" charset="0"/>
              </a:rPr>
              <a:t> </a:t>
            </a:r>
            <a:endParaRPr lang="en-US" sz="3600" dirty="0">
              <a:latin typeface="Eras Bold ITC" panose="020B0907030504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85495" y="1274446"/>
            <a:ext cx="47526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The best framework</a:t>
            </a:r>
            <a:r>
              <a:rPr lang="en-US" sz="2800" b="1" dirty="0" smtClean="0">
                <a:solidFill>
                  <a:srgbClr val="C00000"/>
                </a:solidFill>
              </a:rPr>
              <a:t> to model functions </a:t>
            </a:r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that output </a:t>
            </a:r>
            <a:r>
              <a:rPr lang="en-US" sz="2800" b="1" dirty="0" smtClean="0">
                <a:solidFill>
                  <a:srgbClr val="C00000"/>
                </a:solidFill>
              </a:rPr>
              <a:t>more than 1 value</a:t>
            </a:r>
            <a:endParaRPr lang="en-US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254474" y="3099335"/>
                <a:ext cx="1992430" cy="2502568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mr>
                        <m:m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−5</m:t>
                            </m:r>
                          </m: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474" y="3099335"/>
                <a:ext cx="1992430" cy="250256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4781100" y="3657600"/>
            <a:ext cx="1510271" cy="1220802"/>
            <a:chOff x="4781100" y="3657600"/>
            <a:chExt cx="1510271" cy="1220802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4781100" y="3657600"/>
              <a:ext cx="1473374" cy="2887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V="1">
              <a:off x="4817997" y="4849526"/>
              <a:ext cx="1473374" cy="2887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8225343" y="3627121"/>
            <a:ext cx="1510271" cy="1220802"/>
            <a:chOff x="4781100" y="3657600"/>
            <a:chExt cx="1510271" cy="1220802"/>
          </a:xfrm>
        </p:grpSpPr>
        <p:cxnSp>
          <p:nvCxnSpPr>
            <p:cNvPr id="21" name="Straight Arrow Connector 20"/>
            <p:cNvCxnSpPr/>
            <p:nvPr/>
          </p:nvCxnSpPr>
          <p:spPr>
            <a:xfrm flipV="1">
              <a:off x="4781100" y="3657600"/>
              <a:ext cx="1473374" cy="2887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4817997" y="4849526"/>
              <a:ext cx="1473374" cy="2887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4246433" y="3365511"/>
            <a:ext cx="437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 Demi" panose="020E0802020502020306" pitchFamily="34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8182" y="4571875"/>
            <a:ext cx="437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Berlin Sans FB Demi" panose="020E0802020502020306" pitchFamily="34" charset="0"/>
              </a:rPr>
              <a:t>b</a:t>
            </a:r>
            <a:endParaRPr lang="en-US" sz="2800" dirty="0">
              <a:latin typeface="Berlin Sans FB Demi" panose="020E0802020502020306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2239" y="3174950"/>
            <a:ext cx="1421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Berlin Sans FB Demi" panose="020E0802020502020306" pitchFamily="34" charset="0"/>
              </a:rPr>
              <a:t>2</a:t>
            </a:r>
            <a:r>
              <a:rPr lang="en-US" sz="2800" dirty="0" smtClean="0">
                <a:latin typeface="Berlin Sans FB Demi" panose="020E0802020502020306" pitchFamily="34" charset="0"/>
              </a:rPr>
              <a:t>a - b</a:t>
            </a:r>
            <a:endParaRPr lang="en-US" sz="2800" dirty="0">
              <a:latin typeface="Berlin Sans FB Demi" panose="020E0802020502020306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97312" y="4340744"/>
            <a:ext cx="1603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Berlin Sans FB Demi" panose="020E0802020502020306" pitchFamily="34" charset="0"/>
              </a:rPr>
              <a:t>-5</a:t>
            </a: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erlin Sans FB Demi" panose="020E0802020502020306" pitchFamily="34" charset="0"/>
              </a:rPr>
              <a:t>a</a:t>
            </a:r>
            <a:r>
              <a:rPr lang="en-US" sz="2800" dirty="0" smtClean="0">
                <a:solidFill>
                  <a:srgbClr val="C00000"/>
                </a:solidFill>
                <a:latin typeface="Berlin Sans FB Demi" panose="020E0802020502020306" pitchFamily="34" charset="0"/>
              </a:rPr>
              <a:t> + 3</a:t>
            </a: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erlin Sans FB Demi" panose="020E0802020502020306" pitchFamily="34" charset="0"/>
              </a:rPr>
              <a:t>b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9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682240" y="0"/>
                <a:ext cx="9509760" cy="6858000"/>
              </a:xfrm>
              <a:prstGeom prst="rect">
                <a:avLst/>
              </a:prstGeom>
              <a:solidFill>
                <a:schemeClr val="bg1">
                  <a:alpha val="81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a:fld id="{4BEB140B-2708-4F06-8107-D76673E3FD1A}" type="mathplaceholder">
                      <a:rPr lang="en-US" sz="440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a:t>Type equation here.</a:t>
                    </a:fld>
                  </m:oMath>
                </a14:m>
                <a:r>
                  <a:rPr lang="en-US" sz="4400" i="1" dirty="0" smtClean="0">
                    <a:solidFill>
                      <a:srgbClr val="FFC000"/>
                    </a:solidFill>
                    <a:latin typeface="+mj-lt"/>
                  </a:rPr>
                  <a:t> </a:t>
                </a:r>
              </a:p>
              <a:p>
                <a:pPr algn="ctr"/>
                <a:endParaRPr lang="en-US" sz="6000" b="1" dirty="0" smtClean="0">
                  <a:solidFill>
                    <a:srgbClr val="FFFF00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240" y="0"/>
                <a:ext cx="9509760" cy="68580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607002"/>
              </p:ext>
            </p:extLst>
          </p:nvPr>
        </p:nvGraphicFramePr>
        <p:xfrm>
          <a:off x="3244274" y="510139"/>
          <a:ext cx="4484812" cy="264618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21203"/>
                <a:gridCol w="1121203"/>
                <a:gridCol w="1121203"/>
                <a:gridCol w="1121203"/>
              </a:tblGrid>
              <a:tr h="3482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oranges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banana</a:t>
                      </a:r>
                      <a:endParaRPr lang="en-US" dirty="0"/>
                    </a:p>
                  </a:txBody>
                  <a:tcPr/>
                </a:tc>
              </a:tr>
              <a:tr h="3482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Monday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56</a:t>
                      </a:r>
                      <a:endParaRPr lang="en-US" dirty="0"/>
                    </a:p>
                  </a:txBody>
                  <a:tcPr/>
                </a:tc>
              </a:tr>
              <a:tr h="3482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Tuesday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451625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Wednesday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</a:t>
                      </a:r>
                      <a:endParaRPr lang="en-US" dirty="0"/>
                    </a:p>
                  </a:txBody>
                  <a:tcPr/>
                </a:tc>
              </a:tr>
              <a:tr h="3482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Thursday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</a:tr>
              <a:tr h="3482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Friday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87</a:t>
                      </a:r>
                      <a:endParaRPr lang="en-US" dirty="0"/>
                    </a:p>
                  </a:txBody>
                  <a:tcPr/>
                </a:tc>
              </a:tr>
              <a:tr h="3482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Saturday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487262"/>
              </p:ext>
            </p:extLst>
          </p:nvPr>
        </p:nvGraphicFramePr>
        <p:xfrm>
          <a:off x="7863840" y="510138"/>
          <a:ext cx="2502568" cy="264618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51284"/>
                <a:gridCol w="1251284"/>
              </a:tblGrid>
              <a:tr h="4299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Profit/XAF</a:t>
                      </a:r>
                      <a:endParaRPr lang="en-US" dirty="0"/>
                    </a:p>
                  </a:txBody>
                  <a:tcPr/>
                </a:tc>
              </a:tr>
              <a:tr h="738748">
                <a:tc>
                  <a:txBody>
                    <a:bodyPr/>
                    <a:lstStyle/>
                    <a:p>
                      <a:r>
                        <a:rPr lang="en-US" dirty="0" smtClean="0"/>
                        <a:t>apple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738748">
                <a:tc>
                  <a:txBody>
                    <a:bodyPr/>
                    <a:lstStyle/>
                    <a:p>
                      <a:r>
                        <a:rPr lang="en-US" dirty="0" smtClean="0"/>
                        <a:t>orange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</a:tr>
              <a:tr h="738748">
                <a:tc>
                  <a:txBody>
                    <a:bodyPr/>
                    <a:lstStyle/>
                    <a:p>
                      <a:r>
                        <a:rPr lang="en-US" dirty="0" smtClean="0"/>
                        <a:t>banana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680" y="3666461"/>
            <a:ext cx="3417833" cy="646331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WHAT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IS THE </a:t>
            </a:r>
            <a:r>
              <a:rPr lang="en-US" b="1" dirty="0" smtClean="0">
                <a:solidFill>
                  <a:srgbClr val="C00000"/>
                </a:solidFill>
              </a:rPr>
              <a:t>PROFIT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MADE EACH DAY FROM</a:t>
            </a:r>
            <a:r>
              <a:rPr lang="en-US" b="1" dirty="0" smtClean="0">
                <a:solidFill>
                  <a:srgbClr val="C00000"/>
                </a:solidFill>
              </a:rPr>
              <a:t> MON-SAT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20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360" y="1608293"/>
            <a:ext cx="4175760" cy="3702374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20" name="Group 19"/>
          <p:cNvGrpSpPr/>
          <p:nvPr/>
        </p:nvGrpSpPr>
        <p:grpSpPr>
          <a:xfrm>
            <a:off x="3210807" y="1882613"/>
            <a:ext cx="3563773" cy="2948467"/>
            <a:chOff x="3172307" y="1882613"/>
            <a:chExt cx="3573534" cy="3024667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4880644" y="1882613"/>
              <a:ext cx="0" cy="302466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3172307" y="3682903"/>
              <a:ext cx="3573534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Flowchart: Connector 23"/>
          <p:cNvSpPr/>
          <p:nvPr/>
        </p:nvSpPr>
        <p:spPr>
          <a:xfrm>
            <a:off x="5420618" y="2618998"/>
            <a:ext cx="8340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80" y="1608293"/>
            <a:ext cx="4175760" cy="3702374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grpSp>
        <p:nvGrpSpPr>
          <p:cNvPr id="29" name="Group 28"/>
          <p:cNvGrpSpPr/>
          <p:nvPr/>
        </p:nvGrpSpPr>
        <p:grpSpPr>
          <a:xfrm>
            <a:off x="7917161" y="1882612"/>
            <a:ext cx="3563773" cy="2948467"/>
            <a:chOff x="3158653" y="1695006"/>
            <a:chExt cx="3573534" cy="3024667"/>
          </a:xfrm>
        </p:grpSpPr>
        <p:cxnSp>
          <p:nvCxnSpPr>
            <p:cNvPr id="30" name="Straight Arrow Connector 29"/>
            <p:cNvCxnSpPr/>
            <p:nvPr/>
          </p:nvCxnSpPr>
          <p:spPr>
            <a:xfrm flipV="1">
              <a:off x="4840831" y="1695006"/>
              <a:ext cx="0" cy="302466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V="1">
              <a:off x="3158653" y="3526564"/>
              <a:ext cx="3573534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Right Arrow 1"/>
          <p:cNvSpPr/>
          <p:nvPr/>
        </p:nvSpPr>
        <p:spPr>
          <a:xfrm>
            <a:off x="6885086" y="3179947"/>
            <a:ext cx="861041" cy="559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2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08650" y="694747"/>
                <a:ext cx="6716872" cy="14157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600" b="1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6000" b="1" i="1" dirty="0" smtClean="0"/>
                  <a:t> </a:t>
                </a:r>
                <a:r>
                  <a:rPr lang="en-US" sz="2400" b="1" i="1" dirty="0" smtClean="0"/>
                  <a:t>:</a:t>
                </a:r>
                <a:r>
                  <a:rPr lang="en-US" sz="6000" b="1" i="1" dirty="0" smtClean="0"/>
                  <a:t> </a:t>
                </a:r>
                <a:r>
                  <a:rPr lang="en-US" sz="2400" b="1" i="1" dirty="0" smtClean="0"/>
                  <a:t>describes a </a:t>
                </a:r>
                <a:r>
                  <a:rPr lang="en-US" sz="2400" b="1" i="1" dirty="0" smtClean="0">
                    <a:solidFill>
                      <a:srgbClr val="C00000"/>
                    </a:solidFill>
                  </a:rPr>
                  <a:t>STRETCH</a:t>
                </a:r>
                <a:endParaRPr lang="en-US" sz="3200" b="1" i="1" dirty="0" smtClean="0">
                  <a:solidFill>
                    <a:srgbClr val="C00000"/>
                  </a:solidFill>
                </a:endParaRPr>
              </a:p>
              <a:p>
                <a:endParaRPr lang="en-US" sz="3200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650" y="694747"/>
                <a:ext cx="6716872" cy="141577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908650" y="1934766"/>
                <a:ext cx="6716872" cy="14968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600" b="1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sz="5400" b="1" i="1" dirty="0" smtClean="0"/>
                  <a:t> </a:t>
                </a:r>
                <a:r>
                  <a:rPr lang="en-US" sz="2000" b="1" i="1" dirty="0" smtClean="0"/>
                  <a:t>:</a:t>
                </a:r>
                <a:r>
                  <a:rPr lang="en-US" sz="5400" b="1" i="1" dirty="0" smtClean="0"/>
                  <a:t> </a:t>
                </a:r>
                <a:r>
                  <a:rPr lang="en-US" sz="2000" b="1" i="1" dirty="0" smtClean="0"/>
                  <a:t>describes a  </a:t>
                </a:r>
                <a:r>
                  <a:rPr lang="en-US" sz="2000" b="1" i="1" dirty="0" smtClean="0">
                    <a:solidFill>
                      <a:srgbClr val="C00000"/>
                    </a:solidFill>
                  </a:rPr>
                  <a:t>ROTATION </a:t>
                </a:r>
              </a:p>
              <a:p>
                <a:endParaRPr lang="en-US" sz="2000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650" y="1934766"/>
                <a:ext cx="6716872" cy="14968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08650" y="3263628"/>
                <a:ext cx="7211735" cy="14157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600" b="1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6000" b="1" i="1" dirty="0" smtClean="0"/>
                  <a:t> </a:t>
                </a:r>
                <a:r>
                  <a:rPr lang="en-US" sz="2400" b="1" i="1" dirty="0" smtClean="0"/>
                  <a:t>:</a:t>
                </a:r>
                <a:r>
                  <a:rPr lang="en-US" sz="6000" b="1" i="1" dirty="0" smtClean="0"/>
                  <a:t> </a:t>
                </a:r>
                <a:r>
                  <a:rPr lang="en-US" sz="2400" b="1" i="1" dirty="0" smtClean="0"/>
                  <a:t>describes </a:t>
                </a:r>
                <a:r>
                  <a:rPr lang="en-US" sz="2400" b="1" i="1" dirty="0" smtClean="0">
                    <a:solidFill>
                      <a:srgbClr val="C00000"/>
                    </a:solidFill>
                  </a:rPr>
                  <a:t>COORDINATE SWAP</a:t>
                </a:r>
              </a:p>
              <a:p>
                <a:endParaRPr lang="en-US" sz="3200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650" y="3263628"/>
                <a:ext cx="7211735" cy="141577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836465" y="4336675"/>
                <a:ext cx="7283920" cy="19574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600" b="1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sz="36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mr>
                          <m:m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sz="36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mr>
                          <m:m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sz="3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7200" b="1" i="1" dirty="0" smtClean="0"/>
                  <a:t> </a:t>
                </a:r>
                <a:r>
                  <a:rPr lang="en-US" sz="3200" b="1" i="1" dirty="0" smtClean="0"/>
                  <a:t>:</a:t>
                </a:r>
                <a:r>
                  <a:rPr lang="en-US" sz="7200" b="1" i="1" dirty="0" smtClean="0"/>
                  <a:t> </a:t>
                </a:r>
                <a:r>
                  <a:rPr lang="en-US" sz="2800" b="1" i="1" dirty="0" smtClean="0"/>
                  <a:t>describes</a:t>
                </a:r>
                <a:r>
                  <a:rPr lang="en-US" sz="3200" b="1" i="1" dirty="0" smtClean="0"/>
                  <a:t> </a:t>
                </a:r>
                <a:r>
                  <a:rPr lang="en-US" sz="2400" b="1" i="1" dirty="0" smtClean="0">
                    <a:solidFill>
                      <a:srgbClr val="C00000"/>
                    </a:solidFill>
                  </a:rPr>
                  <a:t>MOVING OF POINT</a:t>
                </a:r>
              </a:p>
              <a:p>
                <a:endParaRPr lang="en-US" sz="3200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465" y="4336675"/>
                <a:ext cx="7283920" cy="1957459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410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902960" y="1902857"/>
            <a:ext cx="366603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Eras Bold ITC" panose="020B0907030504020204" pitchFamily="34" charset="0"/>
              </a:rPr>
              <a:t>S</a:t>
            </a:r>
            <a:r>
              <a:rPr lang="en-US" sz="11500" dirty="0" smtClean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V</a:t>
            </a:r>
            <a:r>
              <a:rPr lang="en-US" sz="11500" dirty="0">
                <a:latin typeface="Eras Bold ITC" panose="020B0907030504020204" pitchFamily="34" charset="0"/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3348" y="3533759"/>
            <a:ext cx="586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2060"/>
                </a:solidFill>
              </a:rPr>
              <a:t>Breaks down any </a:t>
            </a:r>
            <a:r>
              <a:rPr lang="en-US" sz="2400" b="1" dirty="0" smtClean="0">
                <a:solidFill>
                  <a:srgbClr val="C00000"/>
                </a:solidFill>
              </a:rPr>
              <a:t>linear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transformation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sz="2400" dirty="0" smtClean="0">
                <a:solidFill>
                  <a:srgbClr val="002060"/>
                </a:solidFill>
              </a:rPr>
              <a:t>to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sz="2400" dirty="0" smtClean="0">
                <a:solidFill>
                  <a:srgbClr val="002060"/>
                </a:solidFill>
              </a:rPr>
              <a:t>just a sequence of </a:t>
            </a:r>
            <a:r>
              <a:rPr lang="en-US" sz="2400" b="1" dirty="0" smtClean="0">
                <a:solidFill>
                  <a:srgbClr val="002060"/>
                </a:solidFill>
              </a:rPr>
              <a:t>rotate, </a:t>
            </a:r>
            <a:r>
              <a:rPr lang="en-US" sz="2400" b="1" dirty="0" smtClean="0">
                <a:solidFill>
                  <a:srgbClr val="C00000"/>
                </a:solidFill>
              </a:rPr>
              <a:t>stretch</a:t>
            </a:r>
            <a:r>
              <a:rPr lang="en-US" sz="2400" b="1" dirty="0" smtClean="0">
                <a:solidFill>
                  <a:srgbClr val="002060"/>
                </a:solidFill>
              </a:rPr>
              <a:t>, rotate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4717" y="602311"/>
            <a:ext cx="3079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</a:rPr>
              <a:t>BUT NOT ALL MATRICES ARE EASY TO </a:t>
            </a:r>
            <a:r>
              <a:rPr lang="en-US" b="1" dirty="0" smtClean="0">
                <a:solidFill>
                  <a:srgbClr val="C00000"/>
                </a:solidFill>
              </a:rPr>
              <a:t>DESCRIBE</a:t>
            </a:r>
            <a:r>
              <a:rPr lang="en-US" b="1" dirty="0" smtClean="0">
                <a:solidFill>
                  <a:srgbClr val="002060"/>
                </a:solidFill>
              </a:rPr>
              <a:t> THE KIND OF  </a:t>
            </a:r>
            <a:r>
              <a:rPr lang="en-US" b="1" dirty="0" smtClean="0">
                <a:solidFill>
                  <a:srgbClr val="C00000"/>
                </a:solidFill>
              </a:rPr>
              <a:t>TRANSFORMATION</a:t>
            </a:r>
            <a:r>
              <a:rPr lang="en-US" b="1" dirty="0" smtClean="0">
                <a:solidFill>
                  <a:srgbClr val="002060"/>
                </a:solidFill>
              </a:rPr>
              <a:t> THEY MODEL</a:t>
            </a:r>
            <a:endParaRPr lang="en-US" b="1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119" y="2733664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283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54247" y="2183614"/>
                <a:ext cx="6273976" cy="1596078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1" i="0" smtClean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effectLst>
                            <a:outerShdw blurRad="12700" dist="38100" dir="2700000" algn="tl" rotWithShape="0">
                              <a:schemeClr val="bg1">
                                <a:lumMod val="5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a:rPr lang="en-US" sz="9600" b="1" i="0" smtClean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effectLst>
                            <a:outerShdw blurRad="12700" dist="38100" dir="2700000" algn="tl" rotWithShape="0">
                              <a:schemeClr val="bg1">
                                <a:lumMod val="5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9600" b="1" i="0" smtClean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effectLst>
                            <a:outerShdw blurRad="12700" dist="38100" dir="2700000" algn="tl" rotWithShape="0">
                              <a:schemeClr val="bg1">
                                <a:lumMod val="5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𝐔</m:t>
                      </m:r>
                      <m:r>
                        <a:rPr lang="en-US" sz="9600" b="1" i="1" smtClean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effectLst>
                            <a:outerShdw blurRad="12700" dist="38100" dir="2700000" algn="tl" rotWithShape="0">
                              <a:schemeClr val="bg1">
                                <a:lumMod val="5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𝜮</m:t>
                      </m:r>
                      <m:sSup>
                        <m:sSupPr>
                          <m:ctrlPr>
                            <a:rPr lang="en-US" sz="9600" b="1" i="1" smtClean="0">
                              <a:ln w="9525">
                                <a:solidFill>
                                  <a:schemeClr val="bg1"/>
                                </a:solidFill>
                                <a:prstDash val="solid"/>
                              </a:ln>
                              <a:effectLst>
                                <a:outerShdw blurRad="12700" dist="38100" dir="2700000" algn="tl" rotWithShape="0">
                                  <a:schemeClr val="bg1">
                                    <a:lumMod val="5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9600" b="1" i="1" smtClean="0">
                              <a:ln w="9525">
                                <a:solidFill>
                                  <a:schemeClr val="bg1"/>
                                </a:solidFill>
                                <a:prstDash val="solid"/>
                              </a:ln>
                              <a:effectLst>
                                <a:outerShdw blurRad="12700" dist="38100" dir="2700000" algn="tl" rotWithShape="0">
                                  <a:schemeClr val="bg1">
                                    <a:lumMod val="5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US" sz="9600" b="1" i="1" smtClean="0">
                              <a:ln w="9525">
                                <a:solidFill>
                                  <a:schemeClr val="bg1"/>
                                </a:solidFill>
                                <a:prstDash val="solid"/>
                              </a:ln>
                              <a:effectLst>
                                <a:outerShdw blurRad="12700" dist="38100" dir="2700000" algn="tl" rotWithShape="0">
                                  <a:schemeClr val="bg1">
                                    <a:lumMod val="5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sz="9600" b="1" dirty="0">
                  <a:latin typeface="Eras Bold ITC" panose="020B0907030504020204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247" y="2183614"/>
                <a:ext cx="6273976" cy="159607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958931" y="3496404"/>
            <a:ext cx="5867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23939" y="907141"/>
            <a:ext cx="24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94048" y="1254649"/>
            <a:ext cx="3079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</a:rPr>
              <a:t>FOR ANY </a:t>
            </a:r>
            <a:r>
              <a:rPr lang="en-US" b="1" dirty="0" smtClean="0">
                <a:solidFill>
                  <a:srgbClr val="C00000"/>
                </a:solidFill>
              </a:rPr>
              <a:t>MATRIX A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IRRESPECTIVE OF IT’S SHAPE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030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958931" y="3496404"/>
            <a:ext cx="5867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23939" y="907141"/>
            <a:ext cx="24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30" r="3310" b="12843"/>
          <a:stretch/>
        </p:blipFill>
        <p:spPr>
          <a:xfrm>
            <a:off x="3071260" y="388069"/>
            <a:ext cx="8690811" cy="604267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43721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-35094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428941" y="676216"/>
            <a:ext cx="53633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latin typeface="Eras Bold ITC" panose="020B0907030504020204" pitchFamily="34" charset="0"/>
              </a:rPr>
              <a:t>Let’s talk about </a:t>
            </a:r>
            <a:r>
              <a:rPr lang="en-US" sz="3600" dirty="0" smtClean="0">
                <a:solidFill>
                  <a:srgbClr val="C00000"/>
                </a:solidFill>
                <a:latin typeface="Eras Bold ITC" panose="020B0907030504020204" pitchFamily="34" charset="0"/>
              </a:rPr>
              <a:t>matrix rank </a:t>
            </a:r>
            <a:r>
              <a:rPr lang="en-US" sz="3600" dirty="0" smtClean="0">
                <a:latin typeface="Eras Bold ITC" panose="020B0907030504020204" pitchFamily="34" charset="0"/>
              </a:rPr>
              <a:t>?</a:t>
            </a:r>
            <a:endParaRPr lang="en-US" sz="36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8408" y="3648541"/>
            <a:ext cx="5867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23939" y="907141"/>
            <a:ext cx="24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81707" y="2324894"/>
            <a:ext cx="6821098" cy="95410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It tells us </a:t>
            </a:r>
            <a:r>
              <a:rPr lang="en-US" sz="2800" b="1" dirty="0" smtClean="0"/>
              <a:t>How </a:t>
            </a:r>
            <a:r>
              <a:rPr lang="en-US" sz="2800" b="1" dirty="0"/>
              <a:t>much </a:t>
            </a:r>
            <a:r>
              <a:rPr lang="en-US" sz="2800" i="1" dirty="0"/>
              <a:t>real, </a:t>
            </a:r>
            <a:r>
              <a:rPr lang="en-US" sz="2800" b="1" i="1" dirty="0"/>
              <a:t>non-redundant information</a:t>
            </a:r>
            <a:r>
              <a:rPr lang="en-US" sz="2800" dirty="0"/>
              <a:t> is inside this </a:t>
            </a:r>
            <a:r>
              <a:rPr lang="en-US" sz="2800" b="1" dirty="0"/>
              <a:t>matrix</a:t>
            </a:r>
            <a:endParaRPr lang="en-US" sz="2800" b="1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4026571" y="4201439"/>
            <a:ext cx="6821098" cy="1384995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SVD</a:t>
            </a:r>
            <a:r>
              <a:rPr lang="en-US" sz="2800" dirty="0" smtClean="0"/>
              <a:t> </a:t>
            </a:r>
            <a:r>
              <a:rPr lang="en-US" sz="2800" dirty="0">
                <a:solidFill>
                  <a:srgbClr val="C00000"/>
                </a:solidFill>
              </a:rPr>
              <a:t>decomposes</a:t>
            </a:r>
            <a:r>
              <a:rPr lang="en-US" sz="2800" dirty="0"/>
              <a:t> your matrix into layers of importance</a:t>
            </a:r>
            <a:r>
              <a:rPr lang="en-US" sz="2800" dirty="0" smtClean="0"/>
              <a:t>. And </a:t>
            </a:r>
            <a:r>
              <a:rPr lang="en-US" sz="2800" b="1" dirty="0" smtClean="0"/>
              <a:t>rank</a:t>
            </a:r>
            <a:r>
              <a:rPr lang="en-US" sz="2800" dirty="0" smtClean="0"/>
              <a:t> is the number of useful patterns </a:t>
            </a:r>
            <a:r>
              <a:rPr lang="en-US" sz="2800" b="1" dirty="0" smtClean="0"/>
              <a:t>SVD</a:t>
            </a:r>
            <a:r>
              <a:rPr lang="en-US" sz="2800" dirty="0" smtClean="0"/>
              <a:t> can extract</a:t>
            </a:r>
            <a:endParaRPr 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80049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451240" y="2832971"/>
                <a:ext cx="7848786" cy="1192058"/>
              </a:xfrm>
              <a:prstGeom prst="rect">
                <a:avLst/>
              </a:prstGeom>
              <a:noFill/>
              <a:ln w="57150"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a:rPr lang="en-US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e>
                                      <m:sub>
                                        <m:r>
                                          <a:rPr lang="en-US" sz="20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𝟏𝟏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20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e>
                                      <m:sub>
                                        <m:r>
                                          <a:rPr lang="en-US" sz="20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sz="20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sz="20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20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sz="20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2000" i="1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𝑚𝑥𝑛</m:t>
                          </m:r>
                        </m:sub>
                      </m:sSub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1,1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sz="20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1,</m:t>
                                            </m:r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20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  <m:e>
                                        <m:r>
                                          <a:rPr lang="en-US" sz="20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⋱</m:t>
                                        </m:r>
                                      </m:e>
                                      <m:e>
                                        <m:r>
                                          <a:rPr lang="en-US" sz="20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sz="20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𝑛𝑥𝑛</m:t>
                              </m:r>
                            </m:sub>
                          </m:sSub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sz="9600" dirty="0">
                  <a:latin typeface="Eras Bold ITC" panose="020B0907030504020204" pitchFamily="34" charset="0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240" y="2832971"/>
                <a:ext cx="7848786" cy="119205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5715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823939" y="907141"/>
            <a:ext cx="24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94048" y="1254649"/>
            <a:ext cx="3079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</a:rPr>
              <a:t>FOR ANY </a:t>
            </a:r>
            <a:r>
              <a:rPr lang="en-US" b="1" dirty="0" smtClean="0">
                <a:solidFill>
                  <a:srgbClr val="C00000"/>
                </a:solidFill>
              </a:rPr>
              <a:t>MATRIX A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IRRESPECTIVE OF IT’S SHAPE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981707" y="4403943"/>
                <a:ext cx="6821098" cy="523220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 smtClean="0"/>
                  <a:t>The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 smtClean="0"/>
                  <a:t>are the </a:t>
                </a:r>
                <a:r>
                  <a:rPr lang="en-US" sz="2800" b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singular values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707" y="4403943"/>
                <a:ext cx="6821098" cy="523220"/>
              </a:xfrm>
              <a:prstGeom prst="rect">
                <a:avLst/>
              </a:prstGeom>
              <a:blipFill rotWithShape="0">
                <a:blip r:embed="rId7"/>
                <a:stretch>
                  <a:fillRect t="-5263" b="-24211"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1166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-35094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958931" y="3496404"/>
            <a:ext cx="5867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23939" y="907141"/>
            <a:ext cx="24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197995" y="898731"/>
            <a:ext cx="7371377" cy="4738997"/>
            <a:chOff x="3197995" y="898731"/>
            <a:chExt cx="7371377" cy="4738997"/>
          </a:xfrm>
        </p:grpSpPr>
        <p:sp>
          <p:nvSpPr>
            <p:cNvPr id="10" name="Rectangle 9"/>
            <p:cNvSpPr/>
            <p:nvPr/>
          </p:nvSpPr>
          <p:spPr>
            <a:xfrm>
              <a:off x="3197995" y="907141"/>
              <a:ext cx="1402881" cy="1576177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529169" y="898731"/>
              <a:ext cx="1729477" cy="15761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360546" y="898731"/>
              <a:ext cx="1729477" cy="1558527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207578" y="1033509"/>
              <a:ext cx="1306416" cy="135716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60891" y="1026945"/>
              <a:ext cx="1210911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 smtClean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A</a:t>
              </a:r>
            </a:p>
            <a:p>
              <a:r>
                <a:rPr lang="en-US" sz="2800" b="1" dirty="0" err="1" smtClean="0">
                  <a:solidFill>
                    <a:schemeClr val="bg1"/>
                  </a:solidFill>
                  <a:latin typeface="+mj-lt"/>
                </a:rPr>
                <a:t>mxn</a:t>
              </a:r>
              <a:endParaRPr lang="en-US" sz="280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688855" y="1038441"/>
              <a:ext cx="94145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b="1" dirty="0">
                  <a:latin typeface="Arial Black" panose="020B0A04020102020204" pitchFamily="34" charset="0"/>
                </a:rPr>
                <a:t>=</a:t>
              </a:r>
              <a:endParaRPr lang="en-US" sz="8000" b="1" dirty="0">
                <a:latin typeface="Arial Black" panose="020B0A04020102020204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775354" y="4314289"/>
              <a:ext cx="94145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b="1" dirty="0">
                  <a:latin typeface="Arial Black" panose="020B0A04020102020204" pitchFamily="34" charset="0"/>
                </a:rPr>
                <a:t>=</a:t>
              </a:r>
              <a:endParaRPr lang="en-US" sz="8000" b="1" dirty="0">
                <a:latin typeface="Arial Black" panose="020B0A04020102020204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08385" y="1026944"/>
              <a:ext cx="1210911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b="1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u</a:t>
              </a:r>
              <a:endParaRPr lang="en-US" sz="6600" b="1" dirty="0" smtClean="0">
                <a:solidFill>
                  <a:schemeClr val="bg1"/>
                </a:solidFill>
                <a:latin typeface="Copperplate Gothic Bold" panose="020E0705020206020404" pitchFamily="34" charset="0"/>
              </a:endParaRPr>
            </a:p>
            <a:p>
              <a:r>
                <a:rPr lang="en-US" sz="2800" b="1" dirty="0" err="1" smtClean="0">
                  <a:solidFill>
                    <a:schemeClr val="bg1"/>
                  </a:solidFill>
                  <a:latin typeface="+mj-lt"/>
                </a:rPr>
                <a:t>mxm</a:t>
              </a:r>
              <a:endParaRPr lang="en-US" sz="2800" b="1" dirty="0">
                <a:solidFill>
                  <a:schemeClr val="bg1"/>
                </a:solidFill>
                <a:latin typeface="+mj-lt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7756475" y="1138135"/>
                  <a:ext cx="1063776" cy="13542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5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oMath>
                    </m:oMathPara>
                  </a14:m>
                  <a:endParaRPr lang="en-US" sz="5400" b="1" dirty="0" smtClean="0">
                    <a:solidFill>
                      <a:schemeClr val="bg1"/>
                    </a:solidFill>
                    <a:latin typeface="+mj-lt"/>
                  </a:endParaRPr>
                </a:p>
                <a:p>
                  <a:r>
                    <a:rPr lang="en-US" sz="2800" b="1" dirty="0" err="1" smtClean="0">
                      <a:solidFill>
                        <a:schemeClr val="bg1"/>
                      </a:solidFill>
                      <a:latin typeface="+mj-lt"/>
                    </a:rPr>
                    <a:t>mxn</a:t>
                  </a:r>
                  <a:endParaRPr lang="en-US" sz="2800" b="1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6475" y="1138135"/>
                  <a:ext cx="1063776" cy="135421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1429" b="-121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9358461" y="1061758"/>
                  <a:ext cx="1210911" cy="13690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5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US" sz="5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oMath>
                    </m:oMathPara>
                  </a14:m>
                  <a:endParaRPr lang="en-US" sz="5400" b="1" dirty="0" smtClean="0">
                    <a:solidFill>
                      <a:schemeClr val="bg1"/>
                    </a:solidFill>
                    <a:latin typeface="Copperplate Gothic Bold" panose="020E0705020206020404" pitchFamily="34" charset="0"/>
                  </a:endParaRPr>
                </a:p>
                <a:p>
                  <a:r>
                    <a:rPr lang="en-US" sz="2800" b="1" dirty="0" err="1">
                      <a:solidFill>
                        <a:schemeClr val="bg1"/>
                      </a:solidFill>
                      <a:latin typeface="+mj-lt"/>
                    </a:rPr>
                    <a:t>n</a:t>
                  </a:r>
                  <a:r>
                    <a:rPr lang="en-US" sz="2800" b="1" dirty="0" err="1" smtClean="0">
                      <a:solidFill>
                        <a:schemeClr val="bg1"/>
                      </a:solidFill>
                      <a:latin typeface="+mj-lt"/>
                    </a:rPr>
                    <a:t>xn</a:t>
                  </a:r>
                  <a:endParaRPr lang="en-US" sz="2800" b="1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8461" y="1061758"/>
                  <a:ext cx="1210911" cy="136902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0050" b="-11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/>
          <p:cNvGrpSpPr/>
          <p:nvPr/>
        </p:nvGrpSpPr>
        <p:grpSpPr>
          <a:xfrm>
            <a:off x="3350395" y="4208222"/>
            <a:ext cx="7315999" cy="1584587"/>
            <a:chOff x="3197995" y="898731"/>
            <a:chExt cx="7315999" cy="1584587"/>
          </a:xfrm>
        </p:grpSpPr>
        <p:sp>
          <p:nvSpPr>
            <p:cNvPr id="23" name="Rectangle 22"/>
            <p:cNvSpPr/>
            <p:nvPr/>
          </p:nvSpPr>
          <p:spPr>
            <a:xfrm>
              <a:off x="3197995" y="907141"/>
              <a:ext cx="1402881" cy="1576177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529169" y="898731"/>
              <a:ext cx="1729477" cy="15761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404102" y="924791"/>
              <a:ext cx="1729477" cy="1558527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207578" y="1033509"/>
              <a:ext cx="1306416" cy="135716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389965" y="1033509"/>
              <a:ext cx="94145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b="1" dirty="0" smtClean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a</a:t>
              </a:r>
              <a:endParaRPr lang="en-US" sz="8000" b="1" dirty="0">
                <a:solidFill>
                  <a:schemeClr val="bg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823939" y="3155841"/>
            <a:ext cx="6821098" cy="523220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For a rank of </a:t>
            </a:r>
            <a:r>
              <a:rPr lang="en-US" sz="2800" b="1" dirty="0" smtClean="0">
                <a:solidFill>
                  <a:srgbClr val="C00000"/>
                </a:solidFill>
              </a:rPr>
              <a:t>r | r &lt; m, n</a:t>
            </a:r>
            <a:endParaRPr lang="en-US" sz="2800" b="1" dirty="0" smtClean="0">
              <a:solidFill>
                <a:srgbClr val="C0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665345" y="4208222"/>
            <a:ext cx="1001027" cy="15845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568706" y="4234282"/>
            <a:ext cx="1001027" cy="971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9367872" y="4339773"/>
            <a:ext cx="1277165" cy="886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5724919" y="4604652"/>
            <a:ext cx="941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>
                <a:solidFill>
                  <a:schemeClr val="bg1"/>
                </a:solidFill>
              </a:rPr>
              <a:t>mxr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54559" y="4540167"/>
            <a:ext cx="941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</a:rPr>
              <a:t>r</a:t>
            </a:r>
            <a:r>
              <a:rPr lang="en-US" sz="3600" b="1" dirty="0" err="1" smtClean="0">
                <a:solidFill>
                  <a:schemeClr val="bg1"/>
                </a:solidFill>
              </a:rPr>
              <a:t>xr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517731" y="4543943"/>
            <a:ext cx="941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>
                <a:solidFill>
                  <a:schemeClr val="bg1"/>
                </a:solidFill>
              </a:rPr>
              <a:t>rxn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50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316982" y="287030"/>
                <a:ext cx="57858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Eras Bold ITC" panose="020B0907030504020204" pitchFamily="34" charset="0"/>
                  </a:rPr>
                  <a:t>TIME </a:t>
                </a:r>
                <a:r>
                  <a:rPr lang="en-US" sz="2000" dirty="0" smtClean="0">
                    <a:solidFill>
                      <a:schemeClr val="accent1">
                        <a:lumMod val="75000"/>
                      </a:schemeClr>
                    </a:solidFill>
                    <a:latin typeface="Eras Bold ITC" panose="020B0907030504020204" pitchFamily="34" charset="0"/>
                  </a:rPr>
                  <a:t>COMPLEXITY</a:t>
                </a:r>
                <a:r>
                  <a:rPr lang="en-US" sz="2800" dirty="0">
                    <a:latin typeface="Cambria Math" panose="020405030504060302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latin typeface="Eras Bold ITC" panose="020B0907030504020204" pitchFamily="34" charset="0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6982" y="287030"/>
                <a:ext cx="5785864" cy="523220"/>
              </a:xfrm>
              <a:prstGeom prst="rect">
                <a:avLst/>
              </a:prstGeom>
              <a:blipFill rotWithShape="0">
                <a:blip r:embed="rId6"/>
                <a:stretch>
                  <a:fillRect l="-1054" t="-12791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320965" y="1336565"/>
            <a:ext cx="2770730" cy="46166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2"/>
                </a:solidFill>
                <a:latin typeface="Berlin Sans FB" panose="020E0602020502020306" pitchFamily="34" charset="0"/>
              </a:rPr>
              <a:t>Let’s break it down</a:t>
            </a:r>
            <a:endParaRPr lang="en-US" sz="2400" dirty="0">
              <a:solidFill>
                <a:schemeClr val="bg2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320965" y="2049009"/>
                <a:ext cx="8232310" cy="1077218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or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3200" b="1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mxn</m:t>
                    </m:r>
                    <m:r>
                      <m:rPr>
                        <m:nor/>
                      </m:rPr>
                      <a:rPr lang="en-US" sz="3200" b="1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matrix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it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takes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mnmin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32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3200" b="1" dirty="0" smtClean="0">
                    <a:solidFill>
                      <a:schemeClr val="bg1"/>
                    </a:solidFill>
                  </a:rPr>
                  <a:t> operations</a:t>
                </a:r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965" y="2049009"/>
                <a:ext cx="8232310" cy="1077218"/>
              </a:xfrm>
              <a:prstGeom prst="rect">
                <a:avLst/>
              </a:prstGeom>
              <a:blipFill rotWithShape="0">
                <a:blip r:embed="rId7"/>
                <a:stretch>
                  <a:fillRect b="-13978"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8303" y="-138440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320965" y="3674187"/>
                <a:ext cx="8232310" cy="1088375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 smtClean="0">
                    <a:solidFill>
                      <a:schemeClr val="bg1"/>
                    </a:solidFill>
                  </a:rPr>
                  <a:t>If </a:t>
                </a:r>
                <a:r>
                  <a:rPr lang="en-US" sz="3200" dirty="0">
                    <a:solidFill>
                      <a:schemeClr val="bg1"/>
                    </a:solidFill>
                  </a:rPr>
                  <a:t>you only need the first </a:t>
                </a:r>
                <a:r>
                  <a:rPr lang="en-US" sz="3200" b="1" dirty="0" smtClean="0">
                    <a:solidFill>
                      <a:srgbClr val="FFFF00"/>
                    </a:solidFill>
                  </a:rPr>
                  <a:t>n</a:t>
                </a:r>
                <a:r>
                  <a:rPr lang="en-US" sz="3200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sz="3200" dirty="0">
                    <a:solidFill>
                      <a:schemeClr val="bg1"/>
                    </a:solidFill>
                  </a:rPr>
                  <a:t>columns </a:t>
                </a:r>
                <a:r>
                  <a:rPr lang="en-US" sz="3200" dirty="0" smtClean="0">
                    <a:solidFill>
                      <a:schemeClr val="bg1"/>
                    </a:solidFill>
                  </a:rPr>
                  <a:t>of </a:t>
                </a:r>
                <a:r>
                  <a:rPr lang="en-US" sz="3200" b="1" dirty="0" smtClean="0">
                    <a:solidFill>
                      <a:srgbClr val="FFFF00"/>
                    </a:solidFill>
                  </a:rPr>
                  <a:t>U (n&lt;m) </a:t>
                </a:r>
                <a:r>
                  <a:rPr lang="en-US" sz="3200" b="1" dirty="0" smtClean="0">
                    <a:solidFill>
                      <a:schemeClr val="bg1"/>
                    </a:solidFill>
                  </a:rPr>
                  <a:t>it takes </a:t>
                </a:r>
                <a:r>
                  <a:rPr lang="en-US" sz="3200" b="1" dirty="0" smtClean="0">
                    <a:solidFill>
                      <a:srgbClr val="FFFF00"/>
                    </a:solidFill>
                  </a:rPr>
                  <a:t>O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𝒎𝒏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2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 smtClean="0">
                    <a:solidFill>
                      <a:schemeClr val="bg1"/>
                    </a:solidFill>
                  </a:rPr>
                  <a:t> </a:t>
                </a:r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965" y="3674187"/>
                <a:ext cx="8232310" cy="1088375"/>
              </a:xfrm>
              <a:prstGeom prst="rect">
                <a:avLst/>
              </a:prstGeom>
              <a:blipFill rotWithShape="0">
                <a:blip r:embed="rId8"/>
                <a:stretch>
                  <a:fillRect l="-1545" t="-4813" r="-2575" b="-14973"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342331" y="5137853"/>
                <a:ext cx="8232310" cy="1119409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 smtClean="0">
                    <a:solidFill>
                      <a:schemeClr val="bg1"/>
                    </a:solidFill>
                  </a:rPr>
                  <a:t>When calculating only the top k singular values </a:t>
                </a:r>
                <a:r>
                  <a:rPr lang="en-US" sz="3200" dirty="0" smtClean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(k&lt;&lt;min(</a:t>
                </a:r>
                <a:r>
                  <a:rPr lang="en-US" sz="3200" dirty="0" err="1" smtClean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m,n</a:t>
                </a:r>
                <a:r>
                  <a:rPr lang="en-US" sz="3200" dirty="0" smtClean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)) </a:t>
                </a:r>
                <a:r>
                  <a:rPr lang="en-US" sz="3200" dirty="0" smtClean="0">
                    <a:solidFill>
                      <a:schemeClr val="bg1"/>
                    </a:solidFill>
                  </a:rPr>
                  <a:t>it takes </a:t>
                </a:r>
                <a:r>
                  <a:rPr lang="en-US" sz="3200" b="1" dirty="0">
                    <a:solidFill>
                      <a:srgbClr val="FFFF00"/>
                    </a:solidFill>
                  </a:rPr>
                  <a:t>O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𝐦𝐧𝐤</m:t>
                    </m:r>
                    <m:r>
                      <a:rPr lang="en-US" sz="32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 </a:t>
                </a:r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331" y="5137853"/>
                <a:ext cx="8232310" cy="1119409"/>
              </a:xfrm>
              <a:prstGeom prst="rect">
                <a:avLst/>
              </a:prstGeom>
              <a:blipFill rotWithShape="0">
                <a:blip r:embed="rId9"/>
                <a:stretch>
                  <a:fillRect t="-4688" r="-809" b="-10938"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097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84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167864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099616" y="3062314"/>
            <a:ext cx="4675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Eras Bold ITC" panose="020B0907030504020204" pitchFamily="34" charset="0"/>
              </a:rPr>
              <a:t>Thank </a:t>
            </a:r>
            <a:r>
              <a:rPr lang="en-US" sz="5400" dirty="0" smtClean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you</a:t>
            </a:r>
            <a:r>
              <a:rPr lang="en-US" sz="5400" dirty="0" smtClean="0">
                <a:latin typeface="Eras Bold ITC" panose="020B0907030504020204" pitchFamily="34" charset="0"/>
              </a:rPr>
              <a:t> !</a:t>
            </a:r>
            <a:endParaRPr lang="en-US" sz="5400" dirty="0">
              <a:latin typeface="Eras Bold ITC" panose="020B0907030504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393" y="3062314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80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12223</TotalTime>
  <Words>759</Words>
  <Application>Microsoft Office PowerPoint</Application>
  <PresentationFormat>Widescreen</PresentationFormat>
  <Paragraphs>512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Arial</vt:lpstr>
      <vt:lpstr>Arial Black</vt:lpstr>
      <vt:lpstr>Bahnschrift</vt:lpstr>
      <vt:lpstr>Berlin Sans FB</vt:lpstr>
      <vt:lpstr>Berlin Sans FB Demi</vt:lpstr>
      <vt:lpstr>Calibri</vt:lpstr>
      <vt:lpstr>Calibri Light</vt:lpstr>
      <vt:lpstr>Cambria Math</vt:lpstr>
      <vt:lpstr>Copperplate Gothic Bold</vt:lpstr>
      <vt:lpstr>Eras Bold ITC</vt:lpstr>
      <vt:lpstr>Franklin Gothic Demi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</dc:creator>
  <cp:lastModifiedBy>Microsoft account</cp:lastModifiedBy>
  <cp:revision>167</cp:revision>
  <dcterms:created xsi:type="dcterms:W3CDTF">2025-04-07T08:36:07Z</dcterms:created>
  <dcterms:modified xsi:type="dcterms:W3CDTF">2026-05-08T13:27:41Z</dcterms:modified>
</cp:coreProperties>
</file>