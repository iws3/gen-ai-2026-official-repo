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3" r:id="rId3"/>
    <p:sldId id="314" r:id="rId4"/>
    <p:sldId id="315" r:id="rId5"/>
    <p:sldId id="316" r:id="rId6"/>
    <p:sldId id="317" r:id="rId7"/>
    <p:sldId id="318" r:id="rId8"/>
    <p:sldId id="319" r:id="rId9"/>
    <p:sldId id="337" r:id="rId10"/>
    <p:sldId id="320" r:id="rId11"/>
    <p:sldId id="323" r:id="rId12"/>
    <p:sldId id="322" r:id="rId13"/>
    <p:sldId id="321" r:id="rId14"/>
    <p:sldId id="338" r:id="rId15"/>
    <p:sldId id="333" r:id="rId16"/>
    <p:sldId id="325" r:id="rId17"/>
    <p:sldId id="324" r:id="rId18"/>
    <p:sldId id="326" r:id="rId19"/>
    <p:sldId id="327" r:id="rId20"/>
    <p:sldId id="328" r:id="rId21"/>
    <p:sldId id="329" r:id="rId22"/>
    <p:sldId id="330" r:id="rId23"/>
    <p:sldId id="331" r:id="rId24"/>
    <p:sldId id="339" r:id="rId25"/>
    <p:sldId id="332" r:id="rId26"/>
    <p:sldId id="334" r:id="rId27"/>
    <p:sldId id="335" r:id="rId28"/>
    <p:sldId id="336" r:id="rId29"/>
    <p:sldId id="340" r:id="rId30"/>
    <p:sldId id="341" r:id="rId31"/>
    <p:sldId id="342" r:id="rId32"/>
    <p:sldId id="343" r:id="rId33"/>
    <p:sldId id="344" r:id="rId34"/>
    <p:sldId id="311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53A41"/>
    <a:srgbClr val="F13F98"/>
    <a:srgbClr val="4A5253"/>
    <a:srgbClr val="DA9E0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7" autoAdjust="0"/>
    <p:restoredTop sz="94660"/>
  </p:normalViewPr>
  <p:slideViewPr>
    <p:cSldViewPr snapToGrid="0" showGuides="1">
      <p:cViewPr varScale="1">
        <p:scale>
          <a:sx n="66" d="100"/>
          <a:sy n="66" d="100"/>
        </p:scale>
        <p:origin x="600" y="-5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5B4BB-49AC-480C-9981-7EDFCC34E7AC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DF522-E780-46F4-BC07-0CA73B423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8546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5B4BB-49AC-480C-9981-7EDFCC34E7AC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DF522-E780-46F4-BC07-0CA73B423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9691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5B4BB-49AC-480C-9981-7EDFCC34E7AC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DF522-E780-46F4-BC07-0CA73B423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5929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5B4BB-49AC-480C-9981-7EDFCC34E7AC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DF522-E780-46F4-BC07-0CA73B423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7012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5B4BB-49AC-480C-9981-7EDFCC34E7AC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DF522-E780-46F4-BC07-0CA73B423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10419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5B4BB-49AC-480C-9981-7EDFCC34E7AC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DF522-E780-46F4-BC07-0CA73B423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1046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5B4BB-49AC-480C-9981-7EDFCC34E7AC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DF522-E780-46F4-BC07-0CA73B423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5791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5B4BB-49AC-480C-9981-7EDFCC34E7AC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DF522-E780-46F4-BC07-0CA73B423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9065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5B4BB-49AC-480C-9981-7EDFCC34E7AC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DF522-E780-46F4-BC07-0CA73B423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8457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5B4BB-49AC-480C-9981-7EDFCC34E7AC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DF522-E780-46F4-BC07-0CA73B423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1249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5B4BB-49AC-480C-9981-7EDFCC34E7AC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DF522-E780-46F4-BC07-0CA73B423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2210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95B4BB-49AC-480C-9981-7EDFCC34E7AC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DDF522-E780-46F4-BC07-0CA73B423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5473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5" Type="http://schemas.microsoft.com/office/2007/relationships/hdphoto" Target="../media/hdphoto1.wdp"/><Relationship Id="rId4" Type="http://schemas.openxmlformats.org/officeDocument/2006/relationships/image" Target="../media/image5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5" Type="http://schemas.microsoft.com/office/2007/relationships/hdphoto" Target="../media/hdphoto1.wdp"/><Relationship Id="rId4" Type="http://schemas.openxmlformats.org/officeDocument/2006/relationships/image" Target="../media/image5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5" Type="http://schemas.microsoft.com/office/2007/relationships/hdphoto" Target="../media/hdphoto1.wdp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490" y="0"/>
            <a:ext cx="1228049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6080" y="0"/>
            <a:ext cx="1257808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473199" y="0"/>
            <a:ext cx="10718801" cy="6858000"/>
          </a:xfrm>
          <a:prstGeom prst="rect">
            <a:avLst/>
          </a:prstGeom>
          <a:solidFill>
            <a:schemeClr val="bg1">
              <a:alpha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dirty="0" smtClean="0">
                <a:latin typeface="Franklin Gothic Demi" panose="020B0703020102020204" pitchFamily="34" charset="0"/>
              </a:rPr>
              <a:t>MACHINE</a:t>
            </a:r>
          </a:p>
          <a:p>
            <a:pPr algn="ctr"/>
            <a:r>
              <a:rPr lang="en-US" sz="8800" b="1" dirty="0" smtClean="0">
                <a:solidFill>
                  <a:srgbClr val="FFFF00"/>
                </a:solidFill>
                <a:latin typeface="Bahnschrift" panose="020B0502040204020203" pitchFamily="34" charset="0"/>
              </a:rPr>
              <a:t>LEARNING</a:t>
            </a:r>
            <a:endParaRPr lang="en-US" sz="8800" b="1" dirty="0">
              <a:solidFill>
                <a:srgbClr val="FFFF00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59711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490" y="0"/>
            <a:ext cx="1228049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6080" y="0"/>
            <a:ext cx="1257808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682240" y="0"/>
            <a:ext cx="9509760" cy="6858000"/>
          </a:xfrm>
          <a:prstGeom prst="rect">
            <a:avLst/>
          </a:prstGeom>
          <a:solidFill>
            <a:schemeClr val="bg1">
              <a:alpha val="8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i="1" dirty="0" smtClean="0">
                <a:solidFill>
                  <a:srgbClr val="FFC000"/>
                </a:solidFill>
                <a:latin typeface="+mj-lt"/>
              </a:rPr>
              <a:t> </a:t>
            </a:r>
          </a:p>
          <a:p>
            <a:pPr algn="ctr"/>
            <a:endParaRPr lang="en-US" sz="6000" b="1" dirty="0" smtClean="0">
              <a:solidFill>
                <a:srgbClr val="FFFF00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9100" y="810250"/>
            <a:ext cx="2086661" cy="60939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Label encoding</a:t>
            </a:r>
          </a:p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One Hot Encoding</a:t>
            </a:r>
          </a:p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Term Doc Incidence Matrix</a:t>
            </a:r>
            <a:endParaRPr lang="en-US" sz="1200" b="1" dirty="0" smtClean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Bag Of Words</a:t>
            </a:r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TF-IDF</a:t>
            </a:r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Word </a:t>
            </a:r>
            <a:r>
              <a:rPr lang="en-US" sz="1200" b="1" dirty="0" err="1">
                <a:solidFill>
                  <a:schemeClr val="bg2">
                    <a:lumMod val="50000"/>
                  </a:schemeClr>
                </a:solidFill>
              </a:rPr>
              <a:t>E</a:t>
            </a:r>
            <a:r>
              <a:rPr lang="en-US" sz="1200" b="1" dirty="0" err="1" smtClean="0">
                <a:solidFill>
                  <a:schemeClr val="bg2">
                    <a:lumMod val="50000"/>
                  </a:schemeClr>
                </a:solidFill>
              </a:rPr>
              <a:t>mbeddings</a:t>
            </a:r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 </a:t>
            </a:r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K-Nearest Neighbors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Naïve Bayes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K-Means Clustering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Hierarchical Clustering</a:t>
            </a: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Principal Component Analysis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DBSCAN</a:t>
            </a: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Q-Learning</a:t>
            </a: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Deep Q-learning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Policy Gradient Method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1">
                  <a:lumMod val="50000"/>
                </a:schemeClr>
              </a:solidFill>
            </a:endParaRPr>
          </a:p>
          <a:p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3551325" y="2419217"/>
            <a:ext cx="777159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 smtClean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Eras Bold ITC" panose="020B0907030504020204" pitchFamily="34" charset="0"/>
              </a:rPr>
              <a:t>N</a:t>
            </a:r>
            <a:r>
              <a:rPr lang="en-US" sz="4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Eras Bold ITC" panose="020B0907030504020204" pitchFamily="34" charset="0"/>
              </a:rPr>
              <a:t>atural</a:t>
            </a:r>
            <a:r>
              <a:rPr lang="en-US" sz="4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Eras Bold ITC" panose="020B0907030504020204" pitchFamily="34" charset="0"/>
              </a:rPr>
              <a:t> </a:t>
            </a:r>
            <a:r>
              <a:rPr lang="en-US" sz="4400" dirty="0" smtClean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Eras Bold ITC" panose="020B0907030504020204" pitchFamily="34" charset="0"/>
              </a:rPr>
              <a:t>L</a:t>
            </a:r>
            <a:r>
              <a:rPr lang="en-US" sz="4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Eras Bold ITC" panose="020B0907030504020204" pitchFamily="34" charset="0"/>
              </a:rPr>
              <a:t>anguage</a:t>
            </a:r>
          </a:p>
          <a:p>
            <a:pPr algn="ctr"/>
            <a:r>
              <a:rPr lang="en-US" sz="8000" dirty="0" err="1" smtClean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Eras Bold ITC" panose="020B0907030504020204" pitchFamily="34" charset="0"/>
              </a:rPr>
              <a:t>Pro</a:t>
            </a:r>
            <a:r>
              <a:rPr lang="en-US" sz="8000" b="1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Eras Bold ITC" panose="020B0907030504020204" pitchFamily="34" charset="0"/>
              </a:rPr>
              <a:t>cess!n</a:t>
            </a:r>
            <a:r>
              <a:rPr lang="en-US" sz="80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Eras Bold ITC" panose="020B0907030504020204" pitchFamily="34" charset="0"/>
              </a:rPr>
              <a:t>g</a:t>
            </a:r>
            <a:endParaRPr lang="en-US" sz="80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Eras Bold ITC" panose="020B0907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15079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490" y="0"/>
            <a:ext cx="1228049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6080" y="0"/>
            <a:ext cx="1257808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682240" y="0"/>
            <a:ext cx="9509760" cy="6858000"/>
          </a:xfrm>
          <a:prstGeom prst="rect">
            <a:avLst/>
          </a:prstGeom>
          <a:solidFill>
            <a:schemeClr val="bg1">
              <a:alpha val="8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i="1" dirty="0" smtClean="0">
                <a:solidFill>
                  <a:srgbClr val="FFC000"/>
                </a:solidFill>
                <a:latin typeface="+mj-lt"/>
              </a:rPr>
              <a:t> </a:t>
            </a:r>
          </a:p>
          <a:p>
            <a:pPr algn="ctr"/>
            <a:endParaRPr lang="en-US" sz="6000" b="1" dirty="0" smtClean="0">
              <a:solidFill>
                <a:srgbClr val="FFFF00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9100" y="810250"/>
            <a:ext cx="2086661" cy="60939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Label encoding</a:t>
            </a:r>
          </a:p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One Hot Encoding</a:t>
            </a:r>
          </a:p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Term Doc Incidence Matrix</a:t>
            </a:r>
            <a:endParaRPr lang="en-US" sz="1200" b="1" dirty="0" smtClean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Bag Of Words</a:t>
            </a:r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TF-IDF</a:t>
            </a:r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Word </a:t>
            </a:r>
            <a:r>
              <a:rPr lang="en-US" sz="1200" b="1" dirty="0" err="1">
                <a:solidFill>
                  <a:schemeClr val="bg2">
                    <a:lumMod val="50000"/>
                  </a:schemeClr>
                </a:solidFill>
              </a:rPr>
              <a:t>E</a:t>
            </a:r>
            <a:r>
              <a:rPr lang="en-US" sz="1200" b="1" dirty="0" err="1" smtClean="0">
                <a:solidFill>
                  <a:schemeClr val="bg2">
                    <a:lumMod val="50000"/>
                  </a:schemeClr>
                </a:solidFill>
              </a:rPr>
              <a:t>mbeddings</a:t>
            </a:r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 </a:t>
            </a:r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K-Nearest Neighbors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Naïve Bayes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K-Means Clustering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Hierarchical Clustering</a:t>
            </a: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Principal Component Analysis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DBSCAN</a:t>
            </a: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Q-Learning</a:t>
            </a: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Deep Q-learning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Policy Gradient Method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1">
                  <a:lumMod val="50000"/>
                </a:schemeClr>
              </a:solidFill>
            </a:endParaRPr>
          </a:p>
          <a:p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3551325" y="2419217"/>
            <a:ext cx="777159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 smtClean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Eras Bold ITC" panose="020B0907030504020204" pitchFamily="34" charset="0"/>
              </a:rPr>
              <a:t>ML </a:t>
            </a:r>
            <a:r>
              <a:rPr lang="en-US" sz="4400" dirty="0" smtClean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models take only numbers as their inputs and output only numbers</a:t>
            </a:r>
          </a:p>
        </p:txBody>
      </p:sp>
    </p:spTree>
    <p:extLst>
      <p:ext uri="{BB962C8B-B14F-4D97-AF65-F5344CB8AC3E}">
        <p14:creationId xmlns:p14="http://schemas.microsoft.com/office/powerpoint/2010/main" val="16099038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490" y="0"/>
            <a:ext cx="1228049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6080" y="0"/>
            <a:ext cx="1257808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682240" y="0"/>
            <a:ext cx="9509760" cy="6858000"/>
          </a:xfrm>
          <a:prstGeom prst="rect">
            <a:avLst/>
          </a:prstGeom>
          <a:solidFill>
            <a:schemeClr val="bg1">
              <a:alpha val="8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i="1" dirty="0" smtClean="0">
                <a:solidFill>
                  <a:srgbClr val="FFC000"/>
                </a:solidFill>
                <a:latin typeface="+mj-lt"/>
              </a:rPr>
              <a:t> </a:t>
            </a:r>
          </a:p>
          <a:p>
            <a:pPr algn="ctr"/>
            <a:endParaRPr lang="en-US" sz="6000" b="1" dirty="0" smtClean="0">
              <a:solidFill>
                <a:srgbClr val="FFFF00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9100" y="810250"/>
            <a:ext cx="2086661" cy="60939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Label encoding</a:t>
            </a:r>
          </a:p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One Hot Encoding</a:t>
            </a:r>
          </a:p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Term Doc Incidence Matrix</a:t>
            </a:r>
            <a:endParaRPr lang="en-US" sz="1200" b="1" dirty="0" smtClean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Bag Of Words</a:t>
            </a:r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TF-IDF</a:t>
            </a:r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Word </a:t>
            </a:r>
            <a:r>
              <a:rPr lang="en-US" sz="1200" b="1" dirty="0" err="1">
                <a:solidFill>
                  <a:schemeClr val="bg2">
                    <a:lumMod val="50000"/>
                  </a:schemeClr>
                </a:solidFill>
              </a:rPr>
              <a:t>E</a:t>
            </a:r>
            <a:r>
              <a:rPr lang="en-US" sz="1200" b="1" dirty="0" err="1" smtClean="0">
                <a:solidFill>
                  <a:schemeClr val="bg2">
                    <a:lumMod val="50000"/>
                  </a:schemeClr>
                </a:solidFill>
              </a:rPr>
              <a:t>mbeddings</a:t>
            </a:r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 </a:t>
            </a:r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K-Nearest Neighbors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Naïve Bayes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K-Means Clustering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Hierarchical Clustering</a:t>
            </a: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Principal Component Analysis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DBSCAN</a:t>
            </a: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Q-Learning</a:t>
            </a: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Deep Q-learning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Policy Gradient Method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1">
                  <a:lumMod val="50000"/>
                </a:schemeClr>
              </a:solidFill>
            </a:endParaRPr>
          </a:p>
          <a:p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3551325" y="2419217"/>
            <a:ext cx="777159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dirty="0" smtClean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Eras Bold ITC" panose="020B0907030504020204" pitchFamily="34" charset="0"/>
              </a:rPr>
              <a:t>L</a:t>
            </a:r>
            <a:r>
              <a:rPr lang="en-US" sz="8000" dirty="0" smtClean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Eras Bold ITC" panose="020B0907030504020204" pitchFamily="34" charset="0"/>
              </a:rPr>
              <a:t>abel</a:t>
            </a:r>
            <a:r>
              <a:rPr lang="en-US" sz="8000" dirty="0" smtClean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Eras Bold ITC" panose="020B0907030504020204" pitchFamily="34" charset="0"/>
              </a:rPr>
              <a:t> </a:t>
            </a:r>
            <a:r>
              <a:rPr lang="en-US" sz="8000" dirty="0" err="1" smtClean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Eras Bold ITC" panose="020B0907030504020204" pitchFamily="34" charset="0"/>
              </a:rPr>
              <a:t>Encod</a:t>
            </a:r>
            <a:r>
              <a:rPr lang="en-US" sz="8000" dirty="0" err="1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Eras Bold ITC" panose="020B0907030504020204" pitchFamily="34" charset="0"/>
              </a:rPr>
              <a:t>!</a:t>
            </a:r>
            <a:r>
              <a:rPr lang="en-US" sz="8000" dirty="0" err="1" smtClean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Eras Bold ITC" panose="020B0907030504020204" pitchFamily="34" charset="0"/>
              </a:rPr>
              <a:t>ng</a:t>
            </a:r>
            <a:endParaRPr lang="en-US" sz="8000" dirty="0" smtClean="0">
              <a:ln w="0"/>
              <a:solidFill>
                <a:schemeClr val="bg2">
                  <a:lumMod val="1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58224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490" y="0"/>
            <a:ext cx="1228049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6080" y="0"/>
            <a:ext cx="1257808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682240" y="0"/>
            <a:ext cx="9509760" cy="6858000"/>
          </a:xfrm>
          <a:prstGeom prst="rect">
            <a:avLst/>
          </a:prstGeom>
          <a:solidFill>
            <a:schemeClr val="bg1">
              <a:alpha val="8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i="1" dirty="0" smtClean="0">
                <a:solidFill>
                  <a:srgbClr val="FFC000"/>
                </a:solidFill>
                <a:latin typeface="+mj-lt"/>
              </a:rPr>
              <a:t> </a:t>
            </a:r>
          </a:p>
          <a:p>
            <a:pPr algn="ctr"/>
            <a:endParaRPr lang="en-US" sz="6000" b="1" dirty="0" smtClean="0">
              <a:solidFill>
                <a:srgbClr val="FFFF00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9100" y="810250"/>
            <a:ext cx="2086661" cy="60939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Label encoding</a:t>
            </a:r>
          </a:p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One Hot Encoding</a:t>
            </a:r>
          </a:p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Term Doc Incidence Matrix</a:t>
            </a:r>
            <a:endParaRPr lang="en-US" sz="1200" b="1" dirty="0" smtClean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Bag Of Words</a:t>
            </a:r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TF-IDF</a:t>
            </a:r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Word </a:t>
            </a:r>
            <a:r>
              <a:rPr lang="en-US" sz="1200" b="1" dirty="0" err="1">
                <a:solidFill>
                  <a:schemeClr val="bg2">
                    <a:lumMod val="50000"/>
                  </a:schemeClr>
                </a:solidFill>
              </a:rPr>
              <a:t>E</a:t>
            </a:r>
            <a:r>
              <a:rPr lang="en-US" sz="1200" b="1" dirty="0" err="1" smtClean="0">
                <a:solidFill>
                  <a:schemeClr val="bg2">
                    <a:lumMod val="50000"/>
                  </a:schemeClr>
                </a:solidFill>
              </a:rPr>
              <a:t>mbeddings</a:t>
            </a:r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 </a:t>
            </a:r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K-Nearest Neighbors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Naïve Bayes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K-Means Clustering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Hierarchical Clustering</a:t>
            </a: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Principal Component Analysis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DBSCAN</a:t>
            </a: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Q-Learning</a:t>
            </a: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Deep Q-learning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Policy Gradient Method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1">
                  <a:lumMod val="50000"/>
                </a:schemeClr>
              </a:solidFill>
            </a:endParaRPr>
          </a:p>
          <a:p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3551325" y="2887742"/>
            <a:ext cx="7771590" cy="1938992"/>
          </a:xfrm>
          <a:prstGeom prst="rect">
            <a:avLst/>
          </a:prstGeom>
          <a:noFill/>
          <a:ln w="57150">
            <a:solidFill>
              <a:schemeClr val="bg2">
                <a:lumMod val="2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A Data processing technique used to convert </a:t>
            </a:r>
            <a:r>
              <a:rPr lang="en-US" sz="4000" dirty="0" smtClean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categorical values</a:t>
            </a:r>
            <a:r>
              <a:rPr lang="en-US" sz="4000" dirty="0" smtClean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 into </a:t>
            </a:r>
            <a:r>
              <a:rPr lang="en-US" sz="4000" dirty="0" smtClean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labels.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551325" y="2204185"/>
            <a:ext cx="2753222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>
                <a:lumMod val="9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>
                    <a:lumMod val="95000"/>
                  </a:schemeClr>
                </a:solidFill>
                <a:latin typeface="Berlin Sans FB Demi" panose="020E0802020502020306" pitchFamily="34" charset="0"/>
              </a:rPr>
              <a:t>What is label Encoding</a:t>
            </a:r>
            <a:endParaRPr lang="en-US" dirty="0">
              <a:solidFill>
                <a:schemeClr val="bg1">
                  <a:lumMod val="95000"/>
                </a:schemeClr>
              </a:solidFill>
              <a:latin typeface="Berlin Sans FB Demi" panose="020E08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8432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490" y="0"/>
            <a:ext cx="1228049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6080" y="0"/>
            <a:ext cx="1257808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682240" y="0"/>
            <a:ext cx="9509760" cy="6858000"/>
          </a:xfrm>
          <a:prstGeom prst="rect">
            <a:avLst/>
          </a:prstGeom>
          <a:solidFill>
            <a:schemeClr val="bg1">
              <a:alpha val="8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i="1" dirty="0" smtClean="0">
                <a:solidFill>
                  <a:srgbClr val="FFC000"/>
                </a:solidFill>
                <a:latin typeface="+mj-lt"/>
              </a:rPr>
              <a:t> </a:t>
            </a:r>
          </a:p>
          <a:p>
            <a:pPr algn="ctr"/>
            <a:endParaRPr lang="en-US" sz="6000" b="1" dirty="0" smtClean="0">
              <a:solidFill>
                <a:srgbClr val="FFFF00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9100" y="810250"/>
            <a:ext cx="2086661" cy="60939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Label encoding</a:t>
            </a:r>
          </a:p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One Hot Encoding</a:t>
            </a:r>
          </a:p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Term Doc Incidence Matrix</a:t>
            </a:r>
            <a:endParaRPr lang="en-US" sz="1200" b="1" dirty="0" smtClean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Bag Of Words</a:t>
            </a:r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TF-IDF</a:t>
            </a:r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Word </a:t>
            </a:r>
            <a:r>
              <a:rPr lang="en-US" sz="1200" b="1" dirty="0" err="1">
                <a:solidFill>
                  <a:schemeClr val="bg2">
                    <a:lumMod val="50000"/>
                  </a:schemeClr>
                </a:solidFill>
              </a:rPr>
              <a:t>E</a:t>
            </a:r>
            <a:r>
              <a:rPr lang="en-US" sz="1200" b="1" dirty="0" err="1" smtClean="0">
                <a:solidFill>
                  <a:schemeClr val="bg2">
                    <a:lumMod val="50000"/>
                  </a:schemeClr>
                </a:solidFill>
              </a:rPr>
              <a:t>mbeddings</a:t>
            </a:r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 </a:t>
            </a:r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K-Nearest Neighbors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Naïve Bayes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K-Means Clustering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Hierarchical Clustering</a:t>
            </a: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Principal Component Analysis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DBSCAN</a:t>
            </a: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Q-Learning</a:t>
            </a: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Deep Q-learning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Policy Gradient Method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1">
                  <a:lumMod val="50000"/>
                </a:schemeClr>
              </a:solidFill>
            </a:endParaRPr>
          </a:p>
          <a:p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6060509" y="440918"/>
            <a:ext cx="2753222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>
                <a:lumMod val="9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>
                    <a:lumMod val="95000"/>
                  </a:schemeClr>
                </a:solidFill>
                <a:latin typeface="Berlin Sans FB Demi" panose="020E0802020502020306" pitchFamily="34" charset="0"/>
              </a:rPr>
              <a:t>How does it work</a:t>
            </a:r>
            <a:endParaRPr lang="en-US" dirty="0">
              <a:solidFill>
                <a:schemeClr val="bg1">
                  <a:lumMod val="95000"/>
                </a:schemeClr>
              </a:solidFill>
              <a:latin typeface="Berlin Sans FB Demi" panose="020E0802020502020306" pitchFamily="34" charset="0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4395340"/>
              </p:ext>
            </p:extLst>
          </p:nvPr>
        </p:nvGraphicFramePr>
        <p:xfrm>
          <a:off x="3847568" y="1544597"/>
          <a:ext cx="2212941" cy="3535219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212941"/>
              </a:tblGrid>
              <a:tr h="668543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weather</a:t>
                      </a:r>
                      <a:endParaRPr lang="en-US" dirty="0"/>
                    </a:p>
                  </a:txBody>
                  <a:tcPr/>
                </a:tc>
              </a:tr>
              <a:tr h="716669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sunny</a:t>
                      </a:r>
                      <a:endParaRPr lang="en-US" dirty="0"/>
                    </a:p>
                  </a:txBody>
                  <a:tcPr/>
                </a:tc>
              </a:tr>
              <a:tr h="716669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normal</a:t>
                      </a:r>
                      <a:endParaRPr lang="en-US" dirty="0"/>
                    </a:p>
                  </a:txBody>
                  <a:tcPr/>
                </a:tc>
              </a:tr>
              <a:tr h="716669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cloudy</a:t>
                      </a:r>
                      <a:endParaRPr lang="en-US" dirty="0"/>
                    </a:p>
                  </a:txBody>
                  <a:tcPr/>
                </a:tc>
              </a:tr>
              <a:tr h="716669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rainy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6981459"/>
              </p:ext>
            </p:extLst>
          </p:nvPr>
        </p:nvGraphicFramePr>
        <p:xfrm>
          <a:off x="8813731" y="1496471"/>
          <a:ext cx="2212941" cy="3583345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212941"/>
              </a:tblGrid>
              <a:tr h="716669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weather</a:t>
                      </a:r>
                      <a:endParaRPr lang="en-US" dirty="0"/>
                    </a:p>
                  </a:txBody>
                  <a:tcPr/>
                </a:tc>
              </a:tr>
              <a:tr h="716669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</a:tr>
              <a:tr h="716669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</a:tr>
              <a:tr h="716669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</a:tr>
              <a:tr h="716669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Right Arrow 7"/>
          <p:cNvSpPr/>
          <p:nvPr/>
        </p:nvSpPr>
        <p:spPr>
          <a:xfrm>
            <a:off x="6628598" y="3182099"/>
            <a:ext cx="1617044" cy="652025"/>
          </a:xfrm>
          <a:prstGeom prst="rightArrow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273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490" y="0"/>
            <a:ext cx="1228049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6080" y="0"/>
            <a:ext cx="1257808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682240" y="0"/>
            <a:ext cx="9509760" cy="6858000"/>
          </a:xfrm>
          <a:prstGeom prst="rect">
            <a:avLst/>
          </a:prstGeom>
          <a:solidFill>
            <a:schemeClr val="bg1">
              <a:alpha val="8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i="1" dirty="0" smtClean="0">
                <a:solidFill>
                  <a:srgbClr val="FFC000"/>
                </a:solidFill>
                <a:latin typeface="+mj-lt"/>
              </a:rPr>
              <a:t> </a:t>
            </a:r>
          </a:p>
          <a:p>
            <a:pPr algn="ctr"/>
            <a:endParaRPr lang="en-US" sz="6000" b="1" dirty="0" smtClean="0">
              <a:solidFill>
                <a:srgbClr val="FFFF00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9100" y="810250"/>
            <a:ext cx="2086661" cy="60939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Label encoding</a:t>
            </a:r>
          </a:p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One Hot Encoding</a:t>
            </a:r>
          </a:p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Term Doc Incidence Matrix</a:t>
            </a:r>
            <a:endParaRPr lang="en-US" sz="1200" b="1" dirty="0" smtClean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Bag Of Words</a:t>
            </a:r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TF-IDF</a:t>
            </a:r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Word </a:t>
            </a:r>
            <a:r>
              <a:rPr lang="en-US" sz="1200" b="1" dirty="0" err="1">
                <a:solidFill>
                  <a:schemeClr val="bg2">
                    <a:lumMod val="50000"/>
                  </a:schemeClr>
                </a:solidFill>
              </a:rPr>
              <a:t>E</a:t>
            </a:r>
            <a:r>
              <a:rPr lang="en-US" sz="1200" b="1" dirty="0" err="1" smtClean="0">
                <a:solidFill>
                  <a:schemeClr val="bg2">
                    <a:lumMod val="50000"/>
                  </a:schemeClr>
                </a:solidFill>
              </a:rPr>
              <a:t>mbeddings</a:t>
            </a:r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 </a:t>
            </a:r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K-Nearest Neighbors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Naïve Bayes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K-Means Clustering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Hierarchical Clustering</a:t>
            </a: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Principal Component Analysis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DBSCAN</a:t>
            </a: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Q-Learning</a:t>
            </a: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Deep Q-learning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Policy Gradient Method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1">
                  <a:lumMod val="50000"/>
                </a:schemeClr>
              </a:solidFill>
            </a:endParaRPr>
          </a:p>
          <a:p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3551325" y="2887742"/>
            <a:ext cx="7771590" cy="1938992"/>
          </a:xfrm>
          <a:prstGeom prst="rect">
            <a:avLst/>
          </a:prstGeom>
          <a:noFill/>
          <a:ln w="57150">
            <a:solidFill>
              <a:schemeClr val="bg2">
                <a:lumMod val="2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Label encoder will enforce </a:t>
            </a:r>
          </a:p>
          <a:p>
            <a:pPr algn="ctr"/>
            <a:r>
              <a:rPr lang="en-US" sz="4000" b="1" dirty="0" smtClean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un-</a:t>
            </a:r>
            <a:r>
              <a:rPr lang="en-US" sz="4000" b="1" dirty="0" err="1" smtClean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necessery</a:t>
            </a:r>
            <a:r>
              <a:rPr lang="en-US" sz="4000" b="1" dirty="0" smtClean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 order </a:t>
            </a:r>
            <a:r>
              <a:rPr lang="en-US" sz="4000" dirty="0" smtClean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to nominal data </a:t>
            </a:r>
            <a:endParaRPr lang="en-US" sz="4000" dirty="0" smtClean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mic Sans MS" panose="030F0702030302020204" pitchFamily="66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551325" y="2204185"/>
            <a:ext cx="2753222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>
                <a:lumMod val="9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>
                    <a:lumMod val="95000"/>
                  </a:schemeClr>
                </a:solidFill>
                <a:latin typeface="Berlin Sans FB Demi" panose="020E0802020502020306" pitchFamily="34" charset="0"/>
              </a:rPr>
              <a:t>One Weak 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Berlin Sans FB Demi" panose="020E0802020502020306" pitchFamily="34" charset="0"/>
              </a:rPr>
              <a:t>P</a:t>
            </a:r>
            <a:r>
              <a:rPr lang="en-US" dirty="0" smtClean="0">
                <a:solidFill>
                  <a:schemeClr val="bg1">
                    <a:lumMod val="95000"/>
                  </a:schemeClr>
                </a:solidFill>
                <a:latin typeface="Berlin Sans FB Demi" panose="020E0802020502020306" pitchFamily="34" charset="0"/>
              </a:rPr>
              <a:t>oint</a:t>
            </a:r>
            <a:endParaRPr lang="en-US" dirty="0">
              <a:solidFill>
                <a:schemeClr val="bg1">
                  <a:lumMod val="95000"/>
                </a:schemeClr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551773" y="5091927"/>
            <a:ext cx="4217867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>
                <a:lumMod val="9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>
                    <a:lumMod val="95000"/>
                  </a:schemeClr>
                </a:solidFill>
                <a:latin typeface="Berlin Sans FB Demi" panose="020E0802020502020306" pitchFamily="34" charset="0"/>
              </a:rPr>
              <a:t>Think about jersey numbers on players</a:t>
            </a:r>
            <a:endParaRPr lang="en-US" dirty="0">
              <a:solidFill>
                <a:schemeClr val="bg1">
                  <a:lumMod val="95000"/>
                </a:schemeClr>
              </a:solidFill>
              <a:latin typeface="Berlin Sans FB Demi" panose="020E08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86638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490" y="0"/>
            <a:ext cx="1228049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6080" y="0"/>
            <a:ext cx="1257808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682240" y="0"/>
            <a:ext cx="9509760" cy="6858000"/>
          </a:xfrm>
          <a:prstGeom prst="rect">
            <a:avLst/>
          </a:prstGeom>
          <a:solidFill>
            <a:schemeClr val="bg1">
              <a:alpha val="8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i="1" dirty="0" smtClean="0">
                <a:solidFill>
                  <a:srgbClr val="FFC000"/>
                </a:solidFill>
                <a:latin typeface="+mj-lt"/>
              </a:rPr>
              <a:t> </a:t>
            </a:r>
          </a:p>
          <a:p>
            <a:pPr algn="ctr"/>
            <a:endParaRPr lang="en-US" sz="6000" b="1" dirty="0" smtClean="0">
              <a:solidFill>
                <a:srgbClr val="FFFF00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9100" y="810250"/>
            <a:ext cx="2086661" cy="60939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Label encoding</a:t>
            </a:r>
          </a:p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One Hot Encoding</a:t>
            </a:r>
          </a:p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Term Doc Incidence Matrix</a:t>
            </a:r>
            <a:endParaRPr lang="en-US" sz="1200" b="1" dirty="0" smtClean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Bag Of Words</a:t>
            </a:r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TF-IDF</a:t>
            </a:r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Word </a:t>
            </a:r>
            <a:r>
              <a:rPr lang="en-US" sz="1200" b="1" dirty="0" err="1">
                <a:solidFill>
                  <a:schemeClr val="bg2">
                    <a:lumMod val="50000"/>
                  </a:schemeClr>
                </a:solidFill>
              </a:rPr>
              <a:t>E</a:t>
            </a:r>
            <a:r>
              <a:rPr lang="en-US" sz="1200" b="1" dirty="0" err="1" smtClean="0">
                <a:solidFill>
                  <a:schemeClr val="bg2">
                    <a:lumMod val="50000"/>
                  </a:schemeClr>
                </a:solidFill>
              </a:rPr>
              <a:t>mbeddings</a:t>
            </a:r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 </a:t>
            </a:r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K-Nearest Neighbors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Naïve Bayes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K-Means Clustering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Hierarchical Clustering</a:t>
            </a: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Principal Component Analysis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DBSCAN</a:t>
            </a: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Q-Learning</a:t>
            </a: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Deep Q-learning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Policy Gradient Method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1">
                  <a:lumMod val="50000"/>
                </a:schemeClr>
              </a:solidFill>
            </a:endParaRPr>
          </a:p>
          <a:p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3551325" y="2284918"/>
            <a:ext cx="7771590" cy="2585323"/>
          </a:xfrm>
          <a:prstGeom prst="rect">
            <a:avLst/>
          </a:prstGeom>
          <a:noFill/>
          <a:ln w="57150">
            <a:solidFill>
              <a:schemeClr val="bg2">
                <a:lumMod val="2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5400" dirty="0" smtClean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When trying to convert </a:t>
            </a:r>
            <a:r>
              <a:rPr lang="en-US" sz="5400" b="1" dirty="0" smtClean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nominal data </a:t>
            </a:r>
            <a:r>
              <a:rPr lang="en-US" sz="5400" dirty="0" smtClean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to numbers</a:t>
            </a:r>
            <a:r>
              <a:rPr lang="en-US" sz="3200" dirty="0" smtClean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.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6060509" y="1568038"/>
            <a:ext cx="2753222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>
                <a:lumMod val="9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>
                    <a:lumMod val="95000"/>
                  </a:schemeClr>
                </a:solidFill>
                <a:latin typeface="Berlin Sans FB Demi" panose="020E0802020502020306" pitchFamily="34" charset="0"/>
              </a:rPr>
              <a:t>When to avoid</a:t>
            </a:r>
            <a:endParaRPr lang="en-US" dirty="0">
              <a:solidFill>
                <a:schemeClr val="bg1">
                  <a:lumMod val="95000"/>
                </a:schemeClr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356034" y="5217789"/>
            <a:ext cx="6162172" cy="646331"/>
          </a:xfrm>
          <a:prstGeom prst="rect">
            <a:avLst/>
          </a:prstGeom>
          <a:solidFill>
            <a:schemeClr val="tx1"/>
          </a:solidFill>
          <a:ln>
            <a:solidFill>
              <a:schemeClr val="bg1">
                <a:lumMod val="9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>
                    <a:lumMod val="95000"/>
                  </a:schemeClr>
                </a:solidFill>
                <a:latin typeface="Berlin Sans FB Demi" panose="020E0802020502020306" pitchFamily="34" charset="0"/>
              </a:rPr>
              <a:t>They will think that categories with higher values are actually above others beneath it in the real-world</a:t>
            </a:r>
            <a:endParaRPr lang="en-US" dirty="0">
              <a:solidFill>
                <a:schemeClr val="bg1">
                  <a:lumMod val="95000"/>
                </a:schemeClr>
              </a:solidFill>
              <a:latin typeface="Berlin Sans FB Demi" panose="020E08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82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490" y="0"/>
            <a:ext cx="1228049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6080" y="0"/>
            <a:ext cx="1257808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682240" y="0"/>
            <a:ext cx="9509760" cy="6858000"/>
          </a:xfrm>
          <a:prstGeom prst="rect">
            <a:avLst/>
          </a:prstGeom>
          <a:solidFill>
            <a:schemeClr val="bg1">
              <a:alpha val="8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i="1" dirty="0" smtClean="0">
                <a:solidFill>
                  <a:srgbClr val="FFC000"/>
                </a:solidFill>
                <a:latin typeface="+mj-lt"/>
              </a:rPr>
              <a:t> </a:t>
            </a:r>
          </a:p>
          <a:p>
            <a:pPr algn="ctr"/>
            <a:endParaRPr lang="en-US" sz="6000" b="1" dirty="0" smtClean="0">
              <a:solidFill>
                <a:srgbClr val="FFFF00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9100" y="810250"/>
            <a:ext cx="2086661" cy="60939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Label encoding</a:t>
            </a:r>
          </a:p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One Hot Encoding</a:t>
            </a:r>
          </a:p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Term Doc Incidence Matrix</a:t>
            </a:r>
            <a:endParaRPr lang="en-US" sz="1200" b="1" dirty="0" smtClean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Bag Of Words</a:t>
            </a:r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TF-IDF</a:t>
            </a:r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Word </a:t>
            </a:r>
            <a:r>
              <a:rPr lang="en-US" sz="1200" b="1" dirty="0" err="1">
                <a:solidFill>
                  <a:schemeClr val="bg2">
                    <a:lumMod val="50000"/>
                  </a:schemeClr>
                </a:solidFill>
              </a:rPr>
              <a:t>E</a:t>
            </a:r>
            <a:r>
              <a:rPr lang="en-US" sz="1200" b="1" dirty="0" err="1" smtClean="0">
                <a:solidFill>
                  <a:schemeClr val="bg2">
                    <a:lumMod val="50000"/>
                  </a:schemeClr>
                </a:solidFill>
              </a:rPr>
              <a:t>mbeddings</a:t>
            </a:r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 </a:t>
            </a:r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K-Nearest Neighbors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Naïve Bayes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K-Means Clustering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Hierarchical Clustering</a:t>
            </a: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Principal Component Analysis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DBSCAN</a:t>
            </a: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Q-Learning</a:t>
            </a: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Deep Q-learning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Policy Gradient Method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1">
                  <a:lumMod val="50000"/>
                </a:schemeClr>
              </a:solidFill>
            </a:endParaRPr>
          </a:p>
          <a:p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6060509" y="701765"/>
            <a:ext cx="2753222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>
                <a:lumMod val="9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>
                    <a:lumMod val="95000"/>
                  </a:schemeClr>
                </a:solidFill>
                <a:latin typeface="Berlin Sans FB Demi" panose="020E0802020502020306" pitchFamily="34" charset="0"/>
              </a:rPr>
              <a:t>Implementation</a:t>
            </a:r>
            <a:endParaRPr lang="en-US" dirty="0">
              <a:solidFill>
                <a:schemeClr val="bg1">
                  <a:lumMod val="95000"/>
                </a:schemeClr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898232" y="1443789"/>
            <a:ext cx="7392202" cy="866274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3898233" y="1772862"/>
            <a:ext cx="7392202" cy="384720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57150">
            <a:noFill/>
          </a:ln>
        </p:spPr>
        <p:txBody>
          <a:bodyPr wrap="square" rtlCol="0">
            <a:spAutoFit/>
          </a:bodyPr>
          <a:lstStyle/>
          <a:p>
            <a:endParaRPr lang="en-US" dirty="0" smtClean="0">
              <a:ln w="0"/>
              <a:solidFill>
                <a:schemeClr val="bg2">
                  <a:lumMod val="1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mic Sans MS" panose="030F0702030302020204" pitchFamily="66" charset="0"/>
            </a:endParaRPr>
          </a:p>
          <a:p>
            <a:r>
              <a:rPr lang="en-US" sz="1600" b="1" dirty="0" smtClean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en-US" sz="1600" b="1" dirty="0" smtClean="0">
                <a:ln w="0"/>
                <a:solidFill>
                  <a:schemeClr val="bg1">
                    <a:lumMod val="8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>
                <a:ln w="0"/>
                <a:solidFill>
                  <a:schemeClr val="bg1">
                    <a:lumMod val="8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pandas </a:t>
            </a:r>
            <a:r>
              <a:rPr lang="en-US" sz="1600" b="1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as </a:t>
            </a:r>
            <a:r>
              <a:rPr lang="en-US" sz="1600" b="1" dirty="0" err="1" smtClean="0">
                <a:ln w="0"/>
                <a:solidFill>
                  <a:schemeClr val="bg1">
                    <a:lumMod val="8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pd</a:t>
            </a:r>
            <a:endParaRPr lang="en-US" sz="1600" b="1" dirty="0" smtClean="0">
              <a:ln w="0"/>
              <a:solidFill>
                <a:schemeClr val="bg1">
                  <a:lumMod val="8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b="1" dirty="0" smtClean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n-US" sz="1600" b="1" dirty="0" smtClean="0">
                <a:ln w="0"/>
                <a:solidFill>
                  <a:schemeClr val="bg1">
                    <a:lumMod val="8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 err="1">
                <a:ln w="0"/>
                <a:solidFill>
                  <a:schemeClr val="bg1">
                    <a:lumMod val="8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sklearn.preprocessing</a:t>
            </a:r>
            <a:r>
              <a:rPr lang="en-US" sz="1600" b="1" dirty="0">
                <a:ln w="0"/>
                <a:solidFill>
                  <a:schemeClr val="bg1">
                    <a:lumMod val="8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en-US" sz="1600" b="1" dirty="0">
                <a:ln w="0"/>
                <a:solidFill>
                  <a:schemeClr val="bg1">
                    <a:lumMod val="8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 err="1" smtClean="0">
                <a:ln w="0"/>
                <a:solidFill>
                  <a:schemeClr val="bg1">
                    <a:lumMod val="8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LabelEncoder</a:t>
            </a:r>
            <a:endParaRPr lang="en-US" sz="1600" b="1" dirty="0" smtClean="0">
              <a:ln w="0"/>
              <a:solidFill>
                <a:schemeClr val="bg1">
                  <a:lumMod val="8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600" b="1" dirty="0">
              <a:ln w="0"/>
              <a:solidFill>
                <a:schemeClr val="bg1">
                  <a:lumMod val="8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b="1" dirty="0" smtClean="0">
                <a:ln w="0"/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sz="1600" b="1" dirty="0">
                <a:ln w="0"/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1. Sample </a:t>
            </a:r>
            <a:r>
              <a:rPr lang="en-US" sz="1600" b="1" dirty="0" smtClean="0">
                <a:ln w="0"/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dataset</a:t>
            </a:r>
          </a:p>
          <a:p>
            <a:r>
              <a:rPr lang="en-US" sz="1600" b="1" dirty="0" err="1" smtClean="0">
                <a:ln w="0"/>
                <a:solidFill>
                  <a:schemeClr val="bg1">
                    <a:lumMod val="8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1600" b="1" dirty="0" smtClean="0">
                <a:ln w="0"/>
                <a:solidFill>
                  <a:schemeClr val="bg1">
                    <a:lumMod val="8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>
                <a:ln w="0"/>
                <a:solidFill>
                  <a:schemeClr val="bg1">
                    <a:lumMod val="8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1600" b="1" dirty="0" err="1">
                <a:ln w="0"/>
                <a:solidFill>
                  <a:schemeClr val="bg1">
                    <a:lumMod val="8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pd.DataFrame</a:t>
            </a:r>
            <a:r>
              <a:rPr lang="en-US" sz="1600" b="1" dirty="0">
                <a:ln w="0"/>
                <a:solidFill>
                  <a:schemeClr val="bg1">
                    <a:lumMod val="8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({'</a:t>
            </a:r>
            <a:r>
              <a:rPr lang="en-US" sz="1600" b="1" dirty="0" err="1">
                <a:ln w="0"/>
                <a:solidFill>
                  <a:schemeClr val="bg1">
                    <a:lumMod val="8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Target_Class</a:t>
            </a:r>
            <a:r>
              <a:rPr lang="en-US" sz="1600" b="1" dirty="0">
                <a:ln w="0"/>
                <a:solidFill>
                  <a:schemeClr val="bg1">
                    <a:lumMod val="8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': ['Low', 'High', 'Medium', 'Low', 'High</a:t>
            </a:r>
            <a:r>
              <a:rPr lang="en-US" sz="1600" b="1" dirty="0" smtClean="0">
                <a:ln w="0"/>
                <a:solidFill>
                  <a:schemeClr val="bg1">
                    <a:lumMod val="8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']})</a:t>
            </a:r>
          </a:p>
          <a:p>
            <a:endParaRPr lang="en-US" sz="1600" b="1" dirty="0">
              <a:ln w="0"/>
              <a:solidFill>
                <a:schemeClr val="bg1">
                  <a:lumMod val="8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b="1" dirty="0" smtClean="0">
                <a:ln w="0"/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sz="1600" b="1" dirty="0">
                <a:ln w="0"/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2. Initialize the </a:t>
            </a:r>
            <a:r>
              <a:rPr lang="en-US" sz="1600" b="1" dirty="0" err="1" smtClean="0">
                <a:ln w="0"/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LabelEncoder</a:t>
            </a:r>
            <a:endParaRPr lang="en-US" sz="1600" b="1" dirty="0" smtClean="0">
              <a:ln w="0"/>
              <a:solidFill>
                <a:schemeClr val="accent6">
                  <a:lumMod val="60000"/>
                  <a:lumOff val="4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b="1" dirty="0" smtClean="0">
                <a:ln w="0"/>
                <a:solidFill>
                  <a:schemeClr val="bg1">
                    <a:lumMod val="8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le </a:t>
            </a:r>
            <a:r>
              <a:rPr lang="en-US" sz="1600" b="1" dirty="0">
                <a:ln w="0"/>
                <a:solidFill>
                  <a:schemeClr val="bg1">
                    <a:lumMod val="8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1600" b="1" dirty="0" err="1">
                <a:ln w="0"/>
                <a:solidFill>
                  <a:schemeClr val="bg1">
                    <a:lumMod val="8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LabelEncoder</a:t>
            </a:r>
            <a:r>
              <a:rPr lang="en-US" sz="1600" b="1" dirty="0" smtClean="0">
                <a:ln w="0"/>
                <a:solidFill>
                  <a:schemeClr val="bg1">
                    <a:lumMod val="8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endParaRPr lang="en-US" sz="1600" b="1" dirty="0">
              <a:ln w="0"/>
              <a:solidFill>
                <a:schemeClr val="bg1">
                  <a:lumMod val="8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b="1" dirty="0" smtClean="0">
                <a:ln w="0"/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sz="1600" b="1" dirty="0">
                <a:ln w="0"/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3. Fit to the column and transform text to </a:t>
            </a:r>
            <a:r>
              <a:rPr lang="en-US" sz="1600" b="1" dirty="0" smtClean="0">
                <a:ln w="0"/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integers</a:t>
            </a:r>
          </a:p>
          <a:p>
            <a:r>
              <a:rPr lang="en-US" sz="1600" b="1" dirty="0" err="1" smtClean="0">
                <a:ln w="0"/>
                <a:solidFill>
                  <a:schemeClr val="bg1">
                    <a:lumMod val="8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1600" b="1" dirty="0">
                <a:ln w="0"/>
                <a:solidFill>
                  <a:schemeClr val="bg1">
                    <a:lumMod val="8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600" b="1" dirty="0">
                <a:ln w="0"/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sz="1600" b="1" dirty="0" err="1">
                <a:ln w="0"/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Encoded_Class</a:t>
            </a:r>
            <a:r>
              <a:rPr lang="en-US" sz="1600" b="1" dirty="0" smtClean="0">
                <a:ln w="0"/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sz="1600" b="1" dirty="0" smtClean="0">
                <a:ln w="0"/>
                <a:solidFill>
                  <a:schemeClr val="bg1">
                    <a:lumMod val="8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]=</a:t>
            </a:r>
            <a:r>
              <a:rPr lang="en-US" sz="1600" b="1" dirty="0" err="1" smtClean="0">
                <a:ln w="0"/>
                <a:solidFill>
                  <a:schemeClr val="bg1">
                    <a:lumMod val="8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le.fit_transform</a:t>
            </a:r>
            <a:r>
              <a:rPr lang="en-US" sz="1600" b="1" dirty="0" smtClean="0">
                <a:ln w="0"/>
                <a:solidFill>
                  <a:schemeClr val="bg1">
                    <a:lumMod val="8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b="1" dirty="0" err="1" smtClean="0">
                <a:ln w="0"/>
                <a:solidFill>
                  <a:schemeClr val="bg1">
                    <a:lumMod val="8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1600" b="1" dirty="0">
                <a:ln w="0"/>
                <a:solidFill>
                  <a:schemeClr val="bg1">
                    <a:lumMod val="8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600" b="1" dirty="0">
                <a:ln w="0"/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sz="1600" b="1" dirty="0" err="1">
                <a:ln w="0"/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Target_Class</a:t>
            </a:r>
            <a:r>
              <a:rPr lang="en-US" sz="1600" b="1" dirty="0" smtClean="0">
                <a:ln w="0"/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sz="1600" b="1" dirty="0" smtClean="0">
                <a:ln w="0"/>
                <a:solidFill>
                  <a:schemeClr val="bg1">
                    <a:lumMod val="8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])</a:t>
            </a:r>
          </a:p>
          <a:p>
            <a:r>
              <a:rPr lang="en-US" sz="1600" b="1" dirty="0" smtClean="0">
                <a:ln w="0"/>
                <a:solidFill>
                  <a:schemeClr val="bg1">
                    <a:lumMod val="8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sz="1600" b="1" dirty="0" err="1" smtClean="0">
                <a:ln w="0"/>
                <a:solidFill>
                  <a:schemeClr val="bg1">
                    <a:lumMod val="8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1600" b="1" dirty="0" smtClean="0">
                <a:ln w="0"/>
                <a:solidFill>
                  <a:schemeClr val="bg1">
                    <a:lumMod val="8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b="1" dirty="0" smtClean="0">
              <a:ln w="0"/>
              <a:solidFill>
                <a:schemeClr val="bg1">
                  <a:lumMod val="8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10" name="Group 9"/>
          <p:cNvGrpSpPr/>
          <p:nvPr/>
        </p:nvGrpSpPr>
        <p:grpSpPr>
          <a:xfrm>
            <a:off x="4254366" y="1536831"/>
            <a:ext cx="545429" cy="151306"/>
            <a:chOff x="4235116" y="1575331"/>
            <a:chExt cx="545429" cy="151306"/>
          </a:xfrm>
        </p:grpSpPr>
        <p:sp>
          <p:nvSpPr>
            <p:cNvPr id="9" name="Oval 8"/>
            <p:cNvSpPr/>
            <p:nvPr/>
          </p:nvSpPr>
          <p:spPr>
            <a:xfrm>
              <a:off x="4235116" y="1578543"/>
              <a:ext cx="144379" cy="148094"/>
            </a:xfrm>
            <a:prstGeom prst="ellipse">
              <a:avLst/>
            </a:prstGeom>
            <a:solidFill>
              <a:srgbClr val="F13F98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/>
            <p:cNvSpPr/>
            <p:nvPr/>
          </p:nvSpPr>
          <p:spPr>
            <a:xfrm>
              <a:off x="4435641" y="1576937"/>
              <a:ext cx="144379" cy="148094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/>
            <p:cNvSpPr/>
            <p:nvPr/>
          </p:nvSpPr>
          <p:spPr>
            <a:xfrm>
              <a:off x="4636166" y="1575331"/>
              <a:ext cx="144379" cy="148094"/>
            </a:xfrm>
            <a:prstGeom prst="ellipse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6531542" y="1434308"/>
            <a:ext cx="24255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empus Sans ITC" panose="04020404030D07020202" pitchFamily="82" charset="0"/>
              </a:rPr>
              <a:t>Label_encoder.py</a:t>
            </a:r>
            <a:endParaRPr lang="en-US" sz="1600" dirty="0">
              <a:solidFill>
                <a:schemeClr val="bg1"/>
              </a:solidFill>
              <a:latin typeface="Tempus Sans ITC" panose="04020404030D070202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17398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490" y="0"/>
            <a:ext cx="1228049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6080" y="0"/>
            <a:ext cx="1257808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682240" y="0"/>
            <a:ext cx="9509760" cy="6858000"/>
          </a:xfrm>
          <a:prstGeom prst="rect">
            <a:avLst/>
          </a:prstGeom>
          <a:solidFill>
            <a:schemeClr val="bg1">
              <a:alpha val="8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i="1" dirty="0" smtClean="0">
                <a:solidFill>
                  <a:srgbClr val="FFC000"/>
                </a:solidFill>
                <a:latin typeface="+mj-lt"/>
              </a:rPr>
              <a:t> </a:t>
            </a:r>
          </a:p>
          <a:p>
            <a:pPr algn="ctr"/>
            <a:endParaRPr lang="en-US" sz="6000" b="1" dirty="0" smtClean="0">
              <a:solidFill>
                <a:srgbClr val="FFFF00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9100" y="810250"/>
            <a:ext cx="2086661" cy="60939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Label encoding</a:t>
            </a:r>
          </a:p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One Hot Encoding</a:t>
            </a:r>
          </a:p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Term Doc Incidence Matrix</a:t>
            </a:r>
            <a:endParaRPr lang="en-US" sz="1200" b="1" dirty="0" smtClean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Bag Of Words</a:t>
            </a:r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TF-IDF</a:t>
            </a:r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Word </a:t>
            </a:r>
            <a:r>
              <a:rPr lang="en-US" sz="1200" b="1" dirty="0" err="1">
                <a:solidFill>
                  <a:schemeClr val="bg2">
                    <a:lumMod val="50000"/>
                  </a:schemeClr>
                </a:solidFill>
              </a:rPr>
              <a:t>E</a:t>
            </a:r>
            <a:r>
              <a:rPr lang="en-US" sz="1200" b="1" dirty="0" err="1" smtClean="0">
                <a:solidFill>
                  <a:schemeClr val="bg2">
                    <a:lumMod val="50000"/>
                  </a:schemeClr>
                </a:solidFill>
              </a:rPr>
              <a:t>mbeddings</a:t>
            </a:r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 </a:t>
            </a:r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K-Nearest Neighbors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Naïve Bayes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K-Means Clustering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Hierarchical Clustering</a:t>
            </a: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Principal Component Analysis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DBSCAN</a:t>
            </a: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Q-Learning</a:t>
            </a: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Deep Q-learning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Policy Gradient Method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1">
                  <a:lumMod val="50000"/>
                </a:schemeClr>
              </a:solidFill>
            </a:endParaRPr>
          </a:p>
          <a:p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3551325" y="2419217"/>
            <a:ext cx="777159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dirty="0" smtClean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Eras Bold ITC" panose="020B0907030504020204" pitchFamily="34" charset="0"/>
              </a:rPr>
              <a:t>O</a:t>
            </a:r>
            <a:r>
              <a:rPr lang="en-US" sz="8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Eras Bold ITC" panose="020B0907030504020204" pitchFamily="34" charset="0"/>
              </a:rPr>
              <a:t>ne-hot</a:t>
            </a:r>
            <a:r>
              <a:rPr lang="en-US" sz="8000" dirty="0" smtClean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Eras Bold ITC" panose="020B0907030504020204" pitchFamily="34" charset="0"/>
              </a:rPr>
              <a:t> </a:t>
            </a:r>
            <a:r>
              <a:rPr lang="en-US" sz="8000" dirty="0" err="1" smtClean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Eras Bold ITC" panose="020B0907030504020204" pitchFamily="34" charset="0"/>
              </a:rPr>
              <a:t>Encod</a:t>
            </a:r>
            <a:r>
              <a:rPr lang="en-US" sz="8000" dirty="0" err="1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Eras Bold ITC" panose="020B0907030504020204" pitchFamily="34" charset="0"/>
              </a:rPr>
              <a:t>!</a:t>
            </a:r>
            <a:r>
              <a:rPr lang="en-US" sz="8000" dirty="0" err="1" smtClean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Eras Bold ITC" panose="020B0907030504020204" pitchFamily="34" charset="0"/>
              </a:rPr>
              <a:t>ng</a:t>
            </a:r>
            <a:endParaRPr lang="en-US" sz="8000" dirty="0" smtClean="0">
              <a:ln w="0"/>
              <a:solidFill>
                <a:schemeClr val="bg2">
                  <a:lumMod val="1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4659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490" y="0"/>
            <a:ext cx="1228049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6080" y="0"/>
            <a:ext cx="1257808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682240" y="0"/>
            <a:ext cx="9509760" cy="6858000"/>
          </a:xfrm>
          <a:prstGeom prst="rect">
            <a:avLst/>
          </a:prstGeom>
          <a:solidFill>
            <a:schemeClr val="bg1">
              <a:alpha val="8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i="1" dirty="0" smtClean="0">
                <a:solidFill>
                  <a:srgbClr val="FFC000"/>
                </a:solidFill>
                <a:latin typeface="+mj-lt"/>
              </a:rPr>
              <a:t> </a:t>
            </a:r>
          </a:p>
          <a:p>
            <a:pPr algn="ctr"/>
            <a:endParaRPr lang="en-US" sz="6000" b="1" dirty="0" smtClean="0">
              <a:solidFill>
                <a:srgbClr val="FFFF00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9100" y="810250"/>
            <a:ext cx="2086661" cy="60939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Label encoding</a:t>
            </a:r>
          </a:p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One Hot Encoding</a:t>
            </a:r>
          </a:p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Term Doc Incidence Matrix</a:t>
            </a:r>
            <a:endParaRPr lang="en-US" sz="1200" b="1" dirty="0" smtClean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Bag Of Words</a:t>
            </a:r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TF-IDF</a:t>
            </a:r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Word </a:t>
            </a:r>
            <a:r>
              <a:rPr lang="en-US" sz="1200" b="1" dirty="0" err="1">
                <a:solidFill>
                  <a:schemeClr val="bg2">
                    <a:lumMod val="50000"/>
                  </a:schemeClr>
                </a:solidFill>
              </a:rPr>
              <a:t>E</a:t>
            </a:r>
            <a:r>
              <a:rPr lang="en-US" sz="1200" b="1" dirty="0" err="1" smtClean="0">
                <a:solidFill>
                  <a:schemeClr val="bg2">
                    <a:lumMod val="50000"/>
                  </a:schemeClr>
                </a:solidFill>
              </a:rPr>
              <a:t>mbeddings</a:t>
            </a:r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 </a:t>
            </a:r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K-Nearest Neighbors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Naïve Bayes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K-Means Clustering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Hierarchical Clustering</a:t>
            </a: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Principal Component Analysis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DBSCAN</a:t>
            </a: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Q-Learning</a:t>
            </a: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Deep Q-learning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Policy Gradient Method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1">
                  <a:lumMod val="50000"/>
                </a:schemeClr>
              </a:solidFill>
            </a:endParaRPr>
          </a:p>
          <a:p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3551325" y="2887742"/>
            <a:ext cx="7771590" cy="1938992"/>
          </a:xfrm>
          <a:prstGeom prst="rect">
            <a:avLst/>
          </a:prstGeom>
          <a:noFill/>
          <a:ln w="57150">
            <a:solidFill>
              <a:schemeClr val="bg2">
                <a:lumMod val="2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A Data processing technique used to convert </a:t>
            </a:r>
            <a:r>
              <a:rPr lang="en-US" sz="4000" dirty="0" smtClean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categorical values</a:t>
            </a:r>
            <a:r>
              <a:rPr lang="en-US" sz="4000" dirty="0" smtClean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 into </a:t>
            </a:r>
            <a:r>
              <a:rPr lang="en-US" sz="4000" dirty="0" smtClean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numerical vectors</a:t>
            </a:r>
            <a:endParaRPr lang="en-US" sz="4000" dirty="0" smtClean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mic Sans MS" panose="030F0702030302020204" pitchFamily="66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551325" y="2204185"/>
            <a:ext cx="2753222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>
                <a:lumMod val="9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>
                    <a:lumMod val="95000"/>
                  </a:schemeClr>
                </a:solidFill>
                <a:latin typeface="Berlin Sans FB Demi" panose="020E0802020502020306" pitchFamily="34" charset="0"/>
              </a:rPr>
              <a:t>What is one hot encoding</a:t>
            </a:r>
            <a:endParaRPr lang="en-US" dirty="0">
              <a:solidFill>
                <a:schemeClr val="bg1">
                  <a:lumMod val="95000"/>
                </a:schemeClr>
              </a:solidFill>
              <a:latin typeface="Berlin Sans FB Demi" panose="020E08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0770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490" y="0"/>
            <a:ext cx="1228049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6080" y="0"/>
            <a:ext cx="1257808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682240" y="0"/>
            <a:ext cx="9509760" cy="6858000"/>
          </a:xfrm>
          <a:prstGeom prst="rect">
            <a:avLst/>
          </a:prstGeom>
          <a:solidFill>
            <a:schemeClr val="bg1">
              <a:alpha val="8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i="1" dirty="0" smtClean="0">
                <a:solidFill>
                  <a:srgbClr val="FFC000"/>
                </a:solidFill>
                <a:latin typeface="+mj-lt"/>
              </a:rPr>
              <a:t> </a:t>
            </a:r>
          </a:p>
          <a:p>
            <a:pPr algn="ctr"/>
            <a:endParaRPr lang="en-US" sz="6000" b="1" dirty="0" smtClean="0">
              <a:solidFill>
                <a:srgbClr val="FFFF00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9100" y="810250"/>
            <a:ext cx="2086661" cy="60939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Label encoding</a:t>
            </a:r>
          </a:p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One Hot Encoding</a:t>
            </a:r>
          </a:p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Term Doc Incidence Matrix</a:t>
            </a:r>
            <a:endParaRPr lang="en-US" sz="1200" b="1" dirty="0" smtClean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Bag Of Words</a:t>
            </a:r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TF-IDF</a:t>
            </a:r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Word </a:t>
            </a:r>
            <a:r>
              <a:rPr lang="en-US" sz="1200" b="1" dirty="0" err="1">
                <a:solidFill>
                  <a:schemeClr val="bg2">
                    <a:lumMod val="50000"/>
                  </a:schemeClr>
                </a:solidFill>
              </a:rPr>
              <a:t>E</a:t>
            </a:r>
            <a:r>
              <a:rPr lang="en-US" sz="1200" b="1" dirty="0" err="1" smtClean="0">
                <a:solidFill>
                  <a:schemeClr val="bg2">
                    <a:lumMod val="50000"/>
                  </a:schemeClr>
                </a:solidFill>
              </a:rPr>
              <a:t>mbeddings</a:t>
            </a:r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 </a:t>
            </a:r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K-Nearest Neighbors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Naïve Bayes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K-Means Clustering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Hierarchical Clustering</a:t>
            </a: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Principal Component Analysis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DBSCAN</a:t>
            </a: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Q-Learning</a:t>
            </a: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Deep Q-learning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Policy Gradient Method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1">
                  <a:lumMod val="50000"/>
                </a:schemeClr>
              </a:solidFill>
            </a:endParaRPr>
          </a:p>
          <a:p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6060509" y="646029"/>
            <a:ext cx="2753222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>
                <a:lumMod val="9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>
                    <a:lumMod val="95000"/>
                  </a:schemeClr>
                </a:solidFill>
                <a:latin typeface="Berlin Sans FB Demi" panose="020E0802020502020306" pitchFamily="34" charset="0"/>
              </a:rPr>
              <a:t>How does it work</a:t>
            </a:r>
            <a:endParaRPr lang="en-US" dirty="0">
              <a:solidFill>
                <a:schemeClr val="bg1">
                  <a:lumMod val="95000"/>
                </a:schemeClr>
              </a:solidFill>
              <a:latin typeface="Berlin Sans FB Demi" panose="020E0802020502020306" pitchFamily="34" charset="0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7676400"/>
              </p:ext>
            </p:extLst>
          </p:nvPr>
        </p:nvGraphicFramePr>
        <p:xfrm>
          <a:off x="3773238" y="1667236"/>
          <a:ext cx="2212941" cy="3535219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212941"/>
              </a:tblGrid>
              <a:tr h="668543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weather</a:t>
                      </a:r>
                      <a:endParaRPr lang="en-US" dirty="0"/>
                    </a:p>
                  </a:txBody>
                  <a:tcPr/>
                </a:tc>
              </a:tr>
              <a:tr h="716669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sunny</a:t>
                      </a:r>
                      <a:endParaRPr lang="en-US" dirty="0"/>
                    </a:p>
                  </a:txBody>
                  <a:tcPr/>
                </a:tc>
              </a:tr>
              <a:tr h="716669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normal</a:t>
                      </a:r>
                      <a:endParaRPr lang="en-US" dirty="0"/>
                    </a:p>
                  </a:txBody>
                  <a:tcPr/>
                </a:tc>
              </a:tr>
              <a:tr h="716669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cloudy</a:t>
                      </a:r>
                      <a:endParaRPr lang="en-US" dirty="0"/>
                    </a:p>
                  </a:txBody>
                  <a:tcPr/>
                </a:tc>
              </a:tr>
              <a:tr h="716669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rainy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9755738"/>
              </p:ext>
            </p:extLst>
          </p:nvPr>
        </p:nvGraphicFramePr>
        <p:xfrm>
          <a:off x="6594930" y="1661390"/>
          <a:ext cx="4680692" cy="3541065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170173"/>
                <a:gridCol w="1170173"/>
                <a:gridCol w="1170173"/>
                <a:gridCol w="1170173"/>
              </a:tblGrid>
              <a:tr h="830661">
                <a:tc>
                  <a:txBody>
                    <a:bodyPr/>
                    <a:lstStyle/>
                    <a:p>
                      <a:r>
                        <a:rPr lang="en-US" dirty="0" smtClean="0"/>
                        <a:t>Am</a:t>
                      </a:r>
                      <a:r>
                        <a:rPr lang="en-US" baseline="0" dirty="0" smtClean="0"/>
                        <a:t> I sunny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Am I normal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Am I cloudy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Am I  rainy</a:t>
                      </a:r>
                      <a:endParaRPr lang="en-US" dirty="0"/>
                    </a:p>
                  </a:txBody>
                  <a:tcPr/>
                </a:tc>
              </a:tr>
              <a:tr h="677601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</a:tr>
              <a:tr h="677601"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</a:tr>
              <a:tr h="677601"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</a:tr>
              <a:tr h="677601"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Right Arrow 7"/>
          <p:cNvSpPr/>
          <p:nvPr/>
        </p:nvSpPr>
        <p:spPr>
          <a:xfrm>
            <a:off x="5834590" y="3205213"/>
            <a:ext cx="898358" cy="652025"/>
          </a:xfrm>
          <a:prstGeom prst="rightArrow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4536134" y="5660895"/>
            <a:ext cx="6307536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>
                <a:lumMod val="9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>
                    <a:lumMod val="95000"/>
                  </a:schemeClr>
                </a:solidFill>
                <a:latin typeface="Berlin Sans FB Demi" panose="020E0802020502020306" pitchFamily="34" charset="0"/>
              </a:rPr>
              <a:t>Number of new columns = number of unique categories</a:t>
            </a:r>
            <a:endParaRPr lang="en-US" dirty="0">
              <a:solidFill>
                <a:schemeClr val="bg1">
                  <a:lumMod val="95000"/>
                </a:schemeClr>
              </a:solidFill>
              <a:latin typeface="Berlin Sans FB Demi" panose="020E08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9147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490" y="0"/>
            <a:ext cx="1228049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6080" y="0"/>
            <a:ext cx="1257808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682240" y="0"/>
            <a:ext cx="9509760" cy="6858000"/>
          </a:xfrm>
          <a:prstGeom prst="rect">
            <a:avLst/>
          </a:prstGeom>
          <a:solidFill>
            <a:schemeClr val="bg1">
              <a:alpha val="81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i="1" dirty="0" smtClean="0">
                <a:solidFill>
                  <a:srgbClr val="FFC000"/>
                </a:solidFill>
                <a:latin typeface="+mj-lt"/>
              </a:rPr>
              <a:t> </a:t>
            </a:r>
          </a:p>
          <a:p>
            <a:pPr algn="ctr"/>
            <a:endParaRPr lang="en-US" sz="6000" b="1" dirty="0" smtClean="0">
              <a:solidFill>
                <a:srgbClr val="FFFF00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9100" y="810250"/>
            <a:ext cx="2086661" cy="60939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Label encoding</a:t>
            </a:r>
          </a:p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One Hot Encoding</a:t>
            </a:r>
          </a:p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Term Doc Incidence Matrix</a:t>
            </a:r>
            <a:endParaRPr lang="en-US" sz="1200" b="1" dirty="0" smtClean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Bag Of Words</a:t>
            </a:r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TF-IDF</a:t>
            </a:r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Word </a:t>
            </a:r>
            <a:r>
              <a:rPr lang="en-US" sz="1200" b="1" dirty="0" err="1">
                <a:solidFill>
                  <a:schemeClr val="bg2">
                    <a:lumMod val="50000"/>
                  </a:schemeClr>
                </a:solidFill>
              </a:rPr>
              <a:t>E</a:t>
            </a:r>
            <a:r>
              <a:rPr lang="en-US" sz="1200" b="1" dirty="0" err="1" smtClean="0">
                <a:solidFill>
                  <a:schemeClr val="bg2">
                    <a:lumMod val="50000"/>
                  </a:schemeClr>
                </a:solidFill>
              </a:rPr>
              <a:t>mbeddings</a:t>
            </a:r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 </a:t>
            </a:r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K-Nearest Neighbors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Naïve Bayes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K-Means Clustering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Hierarchical Clustering</a:t>
            </a: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Principal Component Analysis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DBSCAN</a:t>
            </a: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Q-Learning</a:t>
            </a: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Deep Q-learning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Policy Gradient Method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1">
                  <a:lumMod val="50000"/>
                </a:schemeClr>
              </a:solidFill>
            </a:endParaRPr>
          </a:p>
          <a:p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3312496" y="2265328"/>
            <a:ext cx="8249248" cy="3785652"/>
          </a:xfrm>
          <a:prstGeom prst="rect">
            <a:avLst/>
          </a:prstGeom>
          <a:noFill/>
          <a:ln w="571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6000" dirty="0" smtClean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Can you point </a:t>
            </a:r>
          </a:p>
          <a:p>
            <a:pPr algn="ctr"/>
            <a:r>
              <a:rPr lang="en-US" sz="6000" dirty="0" smtClean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out one </a:t>
            </a:r>
            <a:r>
              <a:rPr lang="en-US" sz="60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weakness</a:t>
            </a:r>
            <a:r>
              <a:rPr lang="en-US" sz="6000" dirty="0" smtClean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 of this approach?</a:t>
            </a:r>
          </a:p>
          <a:p>
            <a:pPr algn="ctr"/>
            <a:r>
              <a:rPr lang="en-US" sz="6000" dirty="0" smtClean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 </a:t>
            </a:r>
            <a:endParaRPr lang="en-US" sz="4000" dirty="0" smtClean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mic Sans MS" panose="030F0702030302020204" pitchFamily="66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060509" y="1088977"/>
            <a:ext cx="2753222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>
                <a:lumMod val="9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>
                    <a:lumMod val="95000"/>
                  </a:schemeClr>
                </a:solidFill>
                <a:latin typeface="Berlin Sans FB Demi" panose="020E0802020502020306" pitchFamily="34" charset="0"/>
              </a:rPr>
              <a:t>Discussion Point</a:t>
            </a:r>
            <a:endParaRPr lang="en-US" dirty="0">
              <a:solidFill>
                <a:schemeClr val="bg1">
                  <a:lumMod val="95000"/>
                </a:schemeClr>
              </a:solidFill>
              <a:latin typeface="Berlin Sans FB Demi" panose="020E08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2661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490" y="0"/>
            <a:ext cx="1228049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6080" y="0"/>
            <a:ext cx="1257808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682240" y="0"/>
            <a:ext cx="9509760" cy="6858000"/>
          </a:xfrm>
          <a:prstGeom prst="rect">
            <a:avLst/>
          </a:prstGeom>
          <a:solidFill>
            <a:schemeClr val="bg1">
              <a:alpha val="8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i="1" dirty="0" smtClean="0">
                <a:solidFill>
                  <a:srgbClr val="FFC000"/>
                </a:solidFill>
                <a:latin typeface="+mj-lt"/>
              </a:rPr>
              <a:t> </a:t>
            </a:r>
          </a:p>
          <a:p>
            <a:pPr algn="ctr"/>
            <a:endParaRPr lang="en-US" sz="6000" b="1" dirty="0" smtClean="0">
              <a:solidFill>
                <a:srgbClr val="FFFF00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9100" y="810250"/>
            <a:ext cx="2086661" cy="60939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Label encoding</a:t>
            </a:r>
          </a:p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One Hot Encoding</a:t>
            </a:r>
          </a:p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Term Doc Incidence Matrix</a:t>
            </a:r>
            <a:endParaRPr lang="en-US" sz="1200" b="1" dirty="0" smtClean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Bag Of Words</a:t>
            </a:r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TF-IDF</a:t>
            </a:r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Word </a:t>
            </a:r>
            <a:r>
              <a:rPr lang="en-US" sz="1200" b="1" dirty="0" err="1">
                <a:solidFill>
                  <a:schemeClr val="bg2">
                    <a:lumMod val="50000"/>
                  </a:schemeClr>
                </a:solidFill>
              </a:rPr>
              <a:t>E</a:t>
            </a:r>
            <a:r>
              <a:rPr lang="en-US" sz="1200" b="1" dirty="0" err="1" smtClean="0">
                <a:solidFill>
                  <a:schemeClr val="bg2">
                    <a:lumMod val="50000"/>
                  </a:schemeClr>
                </a:solidFill>
              </a:rPr>
              <a:t>mbeddings</a:t>
            </a:r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 </a:t>
            </a:r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K-Nearest Neighbors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Naïve Bayes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K-Means Clustering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Hierarchical Clustering</a:t>
            </a: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Principal Component Analysis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DBSCAN</a:t>
            </a: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Q-Learning</a:t>
            </a: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Deep Q-learning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Policy Gradient Method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1">
                  <a:lumMod val="50000"/>
                </a:schemeClr>
              </a:solidFill>
            </a:endParaRPr>
          </a:p>
          <a:p>
            <a:endParaRPr lang="en-US" dirty="0"/>
          </a:p>
        </p:txBody>
      </p:sp>
      <p:sp>
        <p:nvSpPr>
          <p:cNvPr id="7" name="Rounded Rectangle 6"/>
          <p:cNvSpPr/>
          <p:nvPr/>
        </p:nvSpPr>
        <p:spPr>
          <a:xfrm>
            <a:off x="3898233" y="868986"/>
            <a:ext cx="7392202" cy="866274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3898233" y="1207540"/>
            <a:ext cx="7392202" cy="532453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57150">
            <a:noFill/>
          </a:ln>
        </p:spPr>
        <p:txBody>
          <a:bodyPr wrap="square" rtlCol="0">
            <a:spAutoFit/>
          </a:bodyPr>
          <a:lstStyle/>
          <a:p>
            <a:endParaRPr lang="en-US" dirty="0" smtClean="0">
              <a:ln w="0"/>
              <a:solidFill>
                <a:schemeClr val="bg2">
                  <a:lumMod val="1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mic Sans MS" panose="030F0702030302020204" pitchFamily="66" charset="0"/>
            </a:endParaRPr>
          </a:p>
          <a:p>
            <a:r>
              <a:rPr lang="en-US" sz="1600" b="1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import </a:t>
            </a:r>
            <a:r>
              <a:rPr lang="en-US" sz="16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pandas</a:t>
            </a:r>
            <a:r>
              <a:rPr lang="en-US" sz="1600" b="1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as </a:t>
            </a:r>
            <a:r>
              <a:rPr lang="en-US" sz="1600" b="1" dirty="0" err="1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pd</a:t>
            </a:r>
            <a:endParaRPr lang="en-US" sz="1600" b="1" dirty="0" smtClean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600" b="1" dirty="0" smtClean="0">
              <a:ln w="0"/>
              <a:solidFill>
                <a:srgbClr val="FFFF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b="1" dirty="0" smtClean="0">
                <a:ln w="0"/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sz="1600" b="1" dirty="0">
                <a:ln w="0"/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1. Create a sample dataset with a nominal categorical </a:t>
            </a:r>
            <a:r>
              <a:rPr lang="en-US" sz="1600" b="1" dirty="0" err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columndata</a:t>
            </a:r>
            <a:r>
              <a:rPr lang="en-US" sz="16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= {'City': </a:t>
            </a:r>
            <a:r>
              <a:rPr lang="en-US" sz="1600" b="1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['Paris', 'New York', 'Tokyo', 'Paris', 'Tokyo</a:t>
            </a:r>
            <a:r>
              <a:rPr lang="en-US" sz="1600" b="1" dirty="0" smtClean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']</a:t>
            </a:r>
            <a:r>
              <a:rPr lang="en-US" sz="1600" b="1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sz="1600" b="1" dirty="0" smtClean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b="1" dirty="0" err="1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1600" b="1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1600" b="1" dirty="0" err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pd.DataFrame</a:t>
            </a:r>
            <a:r>
              <a:rPr lang="en-US" sz="16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(data</a:t>
            </a:r>
            <a:r>
              <a:rPr lang="en-US" sz="1600" b="1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sz="1600" b="1" dirty="0" smtClean="0">
              <a:ln w="0"/>
              <a:solidFill>
                <a:srgbClr val="FFFF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b="1" dirty="0" smtClean="0">
                <a:ln w="0"/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sz="1600" b="1" dirty="0">
                <a:ln w="0"/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2. Apply one-hot encoding and fix the dummy variable </a:t>
            </a:r>
            <a:r>
              <a:rPr lang="en-US" sz="1600" b="1" dirty="0" smtClean="0">
                <a:ln w="0"/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trap</a:t>
            </a:r>
          </a:p>
          <a:p>
            <a:r>
              <a:rPr lang="en-US" sz="1600" b="1" dirty="0" smtClean="0">
                <a:ln w="0"/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sz="1600" b="1" dirty="0">
                <a:ln w="0"/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sz="1600" b="1" dirty="0" err="1">
                <a:ln w="0"/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drop_first</a:t>
            </a:r>
            <a:r>
              <a:rPr lang="en-US" sz="1600" b="1" dirty="0">
                <a:ln w="0"/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=True' removes the very first category column (alphabetically</a:t>
            </a:r>
            <a:r>
              <a:rPr lang="en-US" sz="1600" b="1" dirty="0" smtClean="0">
                <a:ln w="0"/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600" b="1" dirty="0" smtClean="0">
                <a:ln w="0"/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sz="1600" b="1" dirty="0">
                <a:ln w="0"/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sz="1600" b="1" dirty="0" err="1">
                <a:ln w="0"/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dtype</a:t>
            </a:r>
            <a:r>
              <a:rPr lang="en-US" sz="1600" b="1" dirty="0">
                <a:ln w="0"/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600" b="1" dirty="0" err="1">
                <a:ln w="0"/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600" b="1" dirty="0">
                <a:ln w="0"/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' changes the output from True/False </a:t>
            </a:r>
            <a:r>
              <a:rPr lang="en-US" sz="1600" b="1" dirty="0" err="1">
                <a:ln w="0"/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booleans</a:t>
            </a:r>
            <a:r>
              <a:rPr lang="en-US" sz="1600" b="1" dirty="0">
                <a:ln w="0"/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to 1/0 </a:t>
            </a:r>
            <a:r>
              <a:rPr lang="en-US" sz="1600" b="1" dirty="0" smtClean="0">
                <a:ln w="0"/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integers</a:t>
            </a:r>
          </a:p>
          <a:p>
            <a:endParaRPr lang="en-US" sz="1600" b="1" dirty="0" smtClean="0">
              <a:ln w="0"/>
              <a:solidFill>
                <a:srgbClr val="FFFF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b="1" dirty="0" err="1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df_encoded</a:t>
            </a:r>
            <a:r>
              <a:rPr lang="en-US" sz="1600" b="1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1600" b="1" dirty="0" err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pd.get_dummies</a:t>
            </a:r>
            <a:r>
              <a:rPr lang="en-US" sz="16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b="1" dirty="0" err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16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, columns=[</a:t>
            </a:r>
            <a:r>
              <a:rPr lang="en-US" sz="1600" b="1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'City'</a:t>
            </a:r>
            <a:r>
              <a:rPr lang="en-US" sz="16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], </a:t>
            </a:r>
            <a:r>
              <a:rPr lang="en-US" sz="1600" b="1" dirty="0" err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drop_first</a:t>
            </a:r>
            <a:r>
              <a:rPr lang="en-US" sz="16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=True, </a:t>
            </a:r>
            <a:r>
              <a:rPr lang="en-US" sz="1600" b="1" dirty="0" err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dtype</a:t>
            </a:r>
            <a:r>
              <a:rPr lang="en-US" sz="16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600" b="1" dirty="0" err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600" b="1" dirty="0" smtClean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600" b="1" dirty="0" smtClean="0">
                <a:ln w="0"/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sz="1600" b="1" dirty="0">
                <a:ln w="0"/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Print the resulting </a:t>
            </a:r>
            <a:r>
              <a:rPr lang="en-US" sz="1600" b="1" dirty="0" err="1" smtClean="0">
                <a:ln w="0"/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dataframe</a:t>
            </a:r>
            <a:endParaRPr lang="en-US" sz="1600" b="1" dirty="0" smtClean="0">
              <a:ln w="0"/>
              <a:solidFill>
                <a:schemeClr val="accent6">
                  <a:lumMod val="60000"/>
                  <a:lumOff val="4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b="1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sz="1600" b="1" dirty="0" err="1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df_encoded</a:t>
            </a:r>
            <a:r>
              <a:rPr lang="en-US" sz="1600" b="1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b="1" dirty="0" smtClean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10" name="Group 9"/>
          <p:cNvGrpSpPr/>
          <p:nvPr/>
        </p:nvGrpSpPr>
        <p:grpSpPr>
          <a:xfrm>
            <a:off x="4279908" y="961260"/>
            <a:ext cx="545429" cy="151306"/>
            <a:chOff x="4235116" y="1575331"/>
            <a:chExt cx="545429" cy="151306"/>
          </a:xfrm>
        </p:grpSpPr>
        <p:sp>
          <p:nvSpPr>
            <p:cNvPr id="9" name="Oval 8"/>
            <p:cNvSpPr/>
            <p:nvPr/>
          </p:nvSpPr>
          <p:spPr>
            <a:xfrm>
              <a:off x="4235116" y="1578543"/>
              <a:ext cx="144379" cy="148094"/>
            </a:xfrm>
            <a:prstGeom prst="ellipse">
              <a:avLst/>
            </a:prstGeom>
            <a:solidFill>
              <a:srgbClr val="F13F98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/>
            <p:cNvSpPr/>
            <p:nvPr/>
          </p:nvSpPr>
          <p:spPr>
            <a:xfrm>
              <a:off x="4435641" y="1576937"/>
              <a:ext cx="144379" cy="148094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/>
            <p:cNvSpPr/>
            <p:nvPr/>
          </p:nvSpPr>
          <p:spPr>
            <a:xfrm>
              <a:off x="4636166" y="1575331"/>
              <a:ext cx="144379" cy="148094"/>
            </a:xfrm>
            <a:prstGeom prst="ellipse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6483416" y="868986"/>
            <a:ext cx="24255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empus Sans ITC" panose="04020404030D07020202" pitchFamily="82" charset="0"/>
              </a:rPr>
              <a:t>One-hot_encoder.py</a:t>
            </a:r>
            <a:endParaRPr lang="en-US" sz="1600" dirty="0">
              <a:solidFill>
                <a:schemeClr val="bg1"/>
              </a:solidFill>
              <a:latin typeface="Tempus Sans ITC" panose="04020404030D07020202" pitchFamily="82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9112589" y="5766153"/>
            <a:ext cx="2753222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>
                <a:lumMod val="9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>
                    <a:lumMod val="95000"/>
                  </a:schemeClr>
                </a:solidFill>
                <a:latin typeface="Berlin Sans FB Demi" panose="020E0802020502020306" pitchFamily="34" charset="0"/>
              </a:rPr>
              <a:t>Implementation</a:t>
            </a:r>
            <a:endParaRPr lang="en-US" dirty="0">
              <a:solidFill>
                <a:schemeClr val="bg1">
                  <a:lumMod val="95000"/>
                </a:schemeClr>
              </a:solidFill>
              <a:latin typeface="Berlin Sans FB Demi" panose="020E08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171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490" y="0"/>
            <a:ext cx="1228049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6080" y="0"/>
            <a:ext cx="1257808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682240" y="0"/>
            <a:ext cx="9509760" cy="6858000"/>
          </a:xfrm>
          <a:prstGeom prst="rect">
            <a:avLst/>
          </a:prstGeom>
          <a:solidFill>
            <a:schemeClr val="bg1">
              <a:alpha val="81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i="1" dirty="0" smtClean="0">
                <a:solidFill>
                  <a:srgbClr val="FFC000"/>
                </a:solidFill>
                <a:latin typeface="+mj-lt"/>
              </a:rPr>
              <a:t> </a:t>
            </a:r>
          </a:p>
          <a:p>
            <a:pPr algn="ctr"/>
            <a:endParaRPr lang="en-US" sz="6000" b="1" dirty="0" smtClean="0">
              <a:solidFill>
                <a:srgbClr val="FFFF00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9100" y="810250"/>
            <a:ext cx="2086661" cy="60939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Label encoding</a:t>
            </a:r>
          </a:p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One Hot Encoding</a:t>
            </a:r>
          </a:p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Term Doc Incidence Matrix</a:t>
            </a:r>
            <a:endParaRPr lang="en-US" sz="1200" b="1" dirty="0" smtClean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Bag Of Words</a:t>
            </a:r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TF-IDF</a:t>
            </a:r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Word </a:t>
            </a:r>
            <a:r>
              <a:rPr lang="en-US" sz="1200" b="1" dirty="0" err="1">
                <a:solidFill>
                  <a:schemeClr val="bg2">
                    <a:lumMod val="50000"/>
                  </a:schemeClr>
                </a:solidFill>
              </a:rPr>
              <a:t>E</a:t>
            </a:r>
            <a:r>
              <a:rPr lang="en-US" sz="1200" b="1" dirty="0" err="1" smtClean="0">
                <a:solidFill>
                  <a:schemeClr val="bg2">
                    <a:lumMod val="50000"/>
                  </a:schemeClr>
                </a:solidFill>
              </a:rPr>
              <a:t>mbeddings</a:t>
            </a:r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 </a:t>
            </a:r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K-Nearest Neighbors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Naïve Bayes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K-Means Clustering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Hierarchical Clustering</a:t>
            </a: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Principal Component Analysis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DBSCAN</a:t>
            </a: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Q-Learning</a:t>
            </a: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Deep Q-learning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Policy Gradient Method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1">
                  <a:lumMod val="50000"/>
                </a:schemeClr>
              </a:solidFill>
            </a:endParaRPr>
          </a:p>
          <a:p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3491464" y="2087523"/>
            <a:ext cx="7891310" cy="3539430"/>
          </a:xfrm>
          <a:prstGeom prst="rect">
            <a:avLst/>
          </a:prstGeom>
          <a:noFill/>
          <a:ln w="57150">
            <a:noFill/>
          </a:ln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3200" dirty="0" smtClean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Uses vectors that store </a:t>
            </a:r>
            <a:r>
              <a:rPr lang="en-US" sz="3200" b="1" dirty="0" smtClean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more zeros than 1</a:t>
            </a:r>
            <a:r>
              <a:rPr lang="en-US" sz="3200" dirty="0" smtClean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 </a:t>
            </a:r>
            <a:r>
              <a:rPr lang="en-US" sz="3200" dirty="0" err="1" smtClean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i.e</a:t>
            </a:r>
            <a:r>
              <a:rPr lang="en-US" sz="3200" dirty="0" smtClean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 </a:t>
            </a:r>
            <a:r>
              <a:rPr lang="en-US" sz="3200" dirty="0" err="1" smtClean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sp</a:t>
            </a:r>
            <a:r>
              <a:rPr lang="en-US" sz="32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a</a:t>
            </a:r>
            <a:r>
              <a:rPr lang="en-US" sz="3200" dirty="0" err="1" smtClean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rc</a:t>
            </a:r>
            <a:r>
              <a:rPr lang="en-US" sz="32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i</a:t>
            </a:r>
            <a:r>
              <a:rPr lang="en-US" sz="3200" dirty="0" err="1" smtClean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ty</a:t>
            </a:r>
            <a:r>
              <a:rPr lang="en-US" sz="3200" dirty="0" smtClean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 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endParaRPr lang="en-US" sz="3200" dirty="0">
              <a:ln w="0"/>
              <a:solidFill>
                <a:schemeClr val="bg2">
                  <a:lumMod val="1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mic Sans MS" panose="030F0702030302020204" pitchFamily="66" charset="0"/>
            </a:endParaRP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3200" dirty="0" smtClean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It does </a:t>
            </a:r>
            <a:r>
              <a:rPr lang="en-US" sz="3200" b="1" dirty="0" smtClean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not scale </a:t>
            </a:r>
            <a:r>
              <a:rPr lang="en-US" sz="3200" dirty="0" smtClean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with number of categories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endParaRPr lang="en-US" sz="3200" dirty="0">
              <a:ln w="0"/>
              <a:solidFill>
                <a:schemeClr val="bg2">
                  <a:lumMod val="1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mic Sans MS" panose="030F0702030302020204" pitchFamily="66" charset="0"/>
            </a:endParaRP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3200" dirty="0" smtClean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It </a:t>
            </a:r>
            <a:r>
              <a:rPr lang="en-US" sz="3200" b="1" dirty="0" smtClean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adds dimensions</a:t>
            </a:r>
            <a:r>
              <a:rPr lang="en-US" sz="3200" dirty="0" smtClean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 to our model &gt;</a:t>
            </a:r>
            <a:r>
              <a:rPr lang="en-US" sz="3200" dirty="0" smtClean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  <a:sym typeface="Wingdings" panose="05000000000000000000" pitchFamily="2" charset="2"/>
              </a:rPr>
              <a:t></a:t>
            </a:r>
            <a:endParaRPr lang="en-US" b="1" dirty="0" smtClean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mic Sans MS" panose="030F0702030302020204" pitchFamily="66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432609" y="1165979"/>
            <a:ext cx="4009021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>
                <a:lumMod val="9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>
                    <a:lumMod val="95000"/>
                  </a:schemeClr>
                </a:solidFill>
                <a:latin typeface="Berlin Sans FB Demi" panose="020E0802020502020306" pitchFamily="34" charset="0"/>
              </a:rPr>
              <a:t>Limitations of one-hot-encoding</a:t>
            </a:r>
            <a:endParaRPr lang="en-US" dirty="0">
              <a:solidFill>
                <a:schemeClr val="bg1">
                  <a:lumMod val="95000"/>
                </a:schemeClr>
              </a:solidFill>
              <a:latin typeface="Berlin Sans FB Demi" panose="020E08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329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490" y="0"/>
            <a:ext cx="1228049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6080" y="0"/>
            <a:ext cx="1257808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682240" y="0"/>
            <a:ext cx="9509760" cy="6858000"/>
          </a:xfrm>
          <a:prstGeom prst="rect">
            <a:avLst/>
          </a:prstGeom>
          <a:solidFill>
            <a:schemeClr val="bg1">
              <a:alpha val="81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i="1" dirty="0" smtClean="0">
                <a:solidFill>
                  <a:srgbClr val="FFC000"/>
                </a:solidFill>
                <a:latin typeface="+mj-lt"/>
              </a:rPr>
              <a:t> </a:t>
            </a:r>
          </a:p>
          <a:p>
            <a:pPr algn="ctr"/>
            <a:endParaRPr lang="en-US" sz="6000" b="1" dirty="0" smtClean="0">
              <a:solidFill>
                <a:srgbClr val="FFFF00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9100" y="810250"/>
            <a:ext cx="2086661" cy="60939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Label encoding</a:t>
            </a:r>
          </a:p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One Hot Encoding</a:t>
            </a:r>
          </a:p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Term Doc Incidence Matrix</a:t>
            </a:r>
            <a:endParaRPr lang="en-US" sz="1200" b="1" dirty="0" smtClean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Bag Of Words</a:t>
            </a:r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TF-IDF</a:t>
            </a:r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Word </a:t>
            </a:r>
            <a:r>
              <a:rPr lang="en-US" sz="1200" b="1" dirty="0" err="1">
                <a:solidFill>
                  <a:schemeClr val="bg2">
                    <a:lumMod val="50000"/>
                  </a:schemeClr>
                </a:solidFill>
              </a:rPr>
              <a:t>E</a:t>
            </a:r>
            <a:r>
              <a:rPr lang="en-US" sz="1200" b="1" dirty="0" err="1" smtClean="0">
                <a:solidFill>
                  <a:schemeClr val="bg2">
                    <a:lumMod val="50000"/>
                  </a:schemeClr>
                </a:solidFill>
              </a:rPr>
              <a:t>mbeddings</a:t>
            </a:r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 </a:t>
            </a:r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K-Nearest Neighbors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Naïve Bayes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K-Means Clustering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Hierarchical Clustering</a:t>
            </a: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Principal Component Analysis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DBSCAN</a:t>
            </a: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Q-Learning</a:t>
            </a: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Deep Q-learning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Policy Gradient Method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1">
                  <a:lumMod val="50000"/>
                </a:schemeClr>
              </a:solidFill>
            </a:endParaRPr>
          </a:p>
          <a:p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3505001" y="2169075"/>
            <a:ext cx="8249248" cy="3785652"/>
          </a:xfrm>
          <a:prstGeom prst="rect">
            <a:avLst/>
          </a:prstGeom>
          <a:noFill/>
          <a:ln w="571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6000" dirty="0" smtClean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How can we apply </a:t>
            </a:r>
          </a:p>
          <a:p>
            <a:pPr algn="ctr"/>
            <a:r>
              <a:rPr lang="en-US" sz="6000" dirty="0" smtClean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one-hot encoding to a </a:t>
            </a:r>
            <a:r>
              <a:rPr lang="en-US" sz="6000" b="1" dirty="0" smtClean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message </a:t>
            </a:r>
            <a:r>
              <a:rPr lang="en-US" sz="6000" dirty="0" smtClean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?</a:t>
            </a:r>
          </a:p>
          <a:p>
            <a:pPr algn="ctr"/>
            <a:r>
              <a:rPr lang="en-US" sz="6000" dirty="0" smtClean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 </a:t>
            </a:r>
            <a:endParaRPr lang="en-US" sz="4000" dirty="0" smtClean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mic Sans MS" panose="030F0702030302020204" pitchFamily="66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060509" y="1088977"/>
            <a:ext cx="2753222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>
                <a:lumMod val="9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>
                    <a:lumMod val="95000"/>
                  </a:schemeClr>
                </a:solidFill>
                <a:latin typeface="Berlin Sans FB Demi" panose="020E0802020502020306" pitchFamily="34" charset="0"/>
              </a:rPr>
              <a:t>Discussion Point</a:t>
            </a:r>
            <a:endParaRPr lang="en-US" dirty="0">
              <a:solidFill>
                <a:schemeClr val="bg1">
                  <a:lumMod val="95000"/>
                </a:schemeClr>
              </a:solidFill>
              <a:latin typeface="Berlin Sans FB Demi" panose="020E08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0208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490" y="0"/>
            <a:ext cx="1228049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6080" y="0"/>
            <a:ext cx="1257808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682240" y="0"/>
            <a:ext cx="9509760" cy="6858000"/>
          </a:xfrm>
          <a:prstGeom prst="rect">
            <a:avLst/>
          </a:prstGeom>
          <a:solidFill>
            <a:schemeClr val="bg1">
              <a:alpha val="8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i="1" dirty="0" smtClean="0">
                <a:solidFill>
                  <a:srgbClr val="FFC000"/>
                </a:solidFill>
                <a:latin typeface="+mj-lt"/>
              </a:rPr>
              <a:t> </a:t>
            </a:r>
          </a:p>
          <a:p>
            <a:pPr algn="ctr"/>
            <a:endParaRPr lang="en-US" sz="6000" b="1" dirty="0" smtClean="0">
              <a:solidFill>
                <a:srgbClr val="FFFF00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9100" y="810250"/>
            <a:ext cx="2086661" cy="60939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Label encoding</a:t>
            </a:r>
          </a:p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One Hot Encoding</a:t>
            </a:r>
          </a:p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Term Doc Incidence Matrix</a:t>
            </a:r>
            <a:endParaRPr lang="en-US" sz="1200" b="1" dirty="0" smtClean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Bag Of Words</a:t>
            </a:r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TF-IDF</a:t>
            </a:r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Word </a:t>
            </a:r>
            <a:r>
              <a:rPr lang="en-US" sz="1200" b="1" dirty="0" err="1">
                <a:solidFill>
                  <a:schemeClr val="bg2">
                    <a:lumMod val="50000"/>
                  </a:schemeClr>
                </a:solidFill>
              </a:rPr>
              <a:t>E</a:t>
            </a:r>
            <a:r>
              <a:rPr lang="en-US" sz="1200" b="1" dirty="0" err="1" smtClean="0">
                <a:solidFill>
                  <a:schemeClr val="bg2">
                    <a:lumMod val="50000"/>
                  </a:schemeClr>
                </a:solidFill>
              </a:rPr>
              <a:t>mbeddings</a:t>
            </a:r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 </a:t>
            </a:r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K-Nearest Neighbors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Naïve Bayes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K-Means Clustering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Hierarchical Clustering</a:t>
            </a: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Principal Component Analysis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DBSCAN</a:t>
            </a: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Q-Learning</a:t>
            </a: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Deep Q-learning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Policy Gradient Method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1">
                  <a:lumMod val="50000"/>
                </a:schemeClr>
              </a:solidFill>
            </a:endParaRPr>
          </a:p>
          <a:p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3551325" y="2419217"/>
            <a:ext cx="777159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dirty="0" smtClean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Eras Bold ITC" panose="020B0907030504020204" pitchFamily="34" charset="0"/>
              </a:rPr>
              <a:t>T</a:t>
            </a:r>
            <a:r>
              <a:rPr lang="en-US" sz="66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Eras Bold ITC" panose="020B0907030504020204" pitchFamily="34" charset="0"/>
              </a:rPr>
              <a:t>erm</a:t>
            </a:r>
            <a:r>
              <a:rPr lang="en-US" sz="6600" dirty="0" smtClean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Eras Bold ITC" panose="020B0907030504020204" pitchFamily="34" charset="0"/>
              </a:rPr>
              <a:t> d</a:t>
            </a:r>
            <a:r>
              <a:rPr lang="en-US" sz="66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Eras Bold ITC" panose="020B0907030504020204" pitchFamily="34" charset="0"/>
              </a:rPr>
              <a:t>ocument</a:t>
            </a:r>
            <a:r>
              <a:rPr lang="en-US" sz="6600" dirty="0" smtClean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Eras Bold ITC" panose="020B0907030504020204" pitchFamily="34" charset="0"/>
              </a:rPr>
              <a:t> i</a:t>
            </a:r>
            <a:r>
              <a:rPr lang="en-US" sz="66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Eras Bold ITC" panose="020B0907030504020204" pitchFamily="34" charset="0"/>
              </a:rPr>
              <a:t>ncidence</a:t>
            </a:r>
            <a:r>
              <a:rPr lang="en-US" sz="6600" dirty="0" smtClean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Eras Bold ITC" panose="020B0907030504020204" pitchFamily="34" charset="0"/>
              </a:rPr>
              <a:t> </a:t>
            </a:r>
            <a:r>
              <a:rPr lang="en-US" sz="6600" dirty="0" err="1" smtClean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Eras Bold ITC" panose="020B0907030504020204" pitchFamily="34" charset="0"/>
              </a:rPr>
              <a:t>matr</a:t>
            </a:r>
            <a:r>
              <a:rPr lang="en-US" sz="6600" dirty="0" err="1" smtClean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Eras Bold ITC" panose="020B0907030504020204" pitchFamily="34" charset="0"/>
              </a:rPr>
              <a:t>!</a:t>
            </a:r>
            <a:r>
              <a:rPr lang="en-US" sz="6600" dirty="0" err="1" smtClean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Eras Bold ITC" panose="020B0907030504020204" pitchFamily="34" charset="0"/>
              </a:rPr>
              <a:t>x</a:t>
            </a:r>
            <a:endParaRPr lang="en-US" sz="6600" dirty="0" smtClean="0">
              <a:ln w="0"/>
              <a:solidFill>
                <a:schemeClr val="bg2">
                  <a:lumMod val="1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2041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490" y="0"/>
            <a:ext cx="1228049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6080" y="0"/>
            <a:ext cx="1257808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682240" y="0"/>
            <a:ext cx="9509760" cy="6858000"/>
          </a:xfrm>
          <a:prstGeom prst="rect">
            <a:avLst/>
          </a:prstGeom>
          <a:solidFill>
            <a:schemeClr val="bg1">
              <a:alpha val="8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i="1" dirty="0" smtClean="0">
                <a:solidFill>
                  <a:srgbClr val="FFC000"/>
                </a:solidFill>
                <a:latin typeface="+mj-lt"/>
              </a:rPr>
              <a:t> </a:t>
            </a:r>
          </a:p>
          <a:p>
            <a:pPr algn="ctr"/>
            <a:endParaRPr lang="en-US" sz="6000" b="1" dirty="0" smtClean="0">
              <a:solidFill>
                <a:srgbClr val="FFFF00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9100" y="810250"/>
            <a:ext cx="2086661" cy="60939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Label encoding</a:t>
            </a:r>
          </a:p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One Hot Encoding</a:t>
            </a:r>
          </a:p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Term Doc Incidence Matrix</a:t>
            </a:r>
            <a:endParaRPr lang="en-US" sz="1200" b="1" dirty="0" smtClean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Bag Of Words</a:t>
            </a:r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TF-IDF</a:t>
            </a:r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Word </a:t>
            </a:r>
            <a:r>
              <a:rPr lang="en-US" sz="1200" b="1" dirty="0" err="1">
                <a:solidFill>
                  <a:schemeClr val="bg2">
                    <a:lumMod val="50000"/>
                  </a:schemeClr>
                </a:solidFill>
              </a:rPr>
              <a:t>E</a:t>
            </a:r>
            <a:r>
              <a:rPr lang="en-US" sz="1200" b="1" dirty="0" err="1" smtClean="0">
                <a:solidFill>
                  <a:schemeClr val="bg2">
                    <a:lumMod val="50000"/>
                  </a:schemeClr>
                </a:solidFill>
              </a:rPr>
              <a:t>mbeddings</a:t>
            </a:r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 </a:t>
            </a:r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K-Nearest Neighbors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Naïve Bayes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K-Means Clustering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Hierarchical Clustering</a:t>
            </a: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Principal Component Analysis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DBSCAN</a:t>
            </a: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Q-Learning</a:t>
            </a: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Deep Q-learning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Policy Gradient Method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1">
                  <a:lumMod val="50000"/>
                </a:schemeClr>
              </a:solidFill>
            </a:endParaRPr>
          </a:p>
          <a:p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5786050" y="646131"/>
            <a:ext cx="2753222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>
                <a:lumMod val="9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>
                    <a:lumMod val="95000"/>
                  </a:schemeClr>
                </a:solidFill>
                <a:latin typeface="Berlin Sans FB Demi" panose="020E0802020502020306" pitchFamily="34" charset="0"/>
              </a:rPr>
              <a:t>How does it work</a:t>
            </a:r>
            <a:endParaRPr lang="en-US" dirty="0">
              <a:solidFill>
                <a:schemeClr val="bg1">
                  <a:lumMod val="95000"/>
                </a:schemeClr>
              </a:solidFill>
              <a:latin typeface="Berlin Sans FB Demi" panose="020E0802020502020306" pitchFamily="34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6627824"/>
              </p:ext>
            </p:extLst>
          </p:nvPr>
        </p:nvGraphicFramePr>
        <p:xfrm>
          <a:off x="4708672" y="3561834"/>
          <a:ext cx="5117712" cy="286170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279428"/>
                <a:gridCol w="1279428"/>
                <a:gridCol w="1279428"/>
                <a:gridCol w="1279428"/>
              </a:tblGrid>
              <a:tr h="448060">
                <a:tc>
                  <a:txBody>
                    <a:bodyPr/>
                    <a:lstStyle/>
                    <a:p>
                      <a:r>
                        <a:rPr lang="en-US" dirty="0" smtClean="0"/>
                        <a:t>Is</a:t>
                      </a:r>
                      <a:r>
                        <a:rPr lang="en-US" baseline="0" dirty="0" smtClean="0"/>
                        <a:t> present in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Doc</a:t>
                      </a:r>
                      <a:r>
                        <a:rPr lang="en-US" baseline="0" dirty="0" smtClean="0"/>
                        <a:t> 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Doc</a:t>
                      </a:r>
                      <a:r>
                        <a:rPr lang="en-US" baseline="0" dirty="0" smtClean="0"/>
                        <a:t> 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Doc</a:t>
                      </a:r>
                      <a:r>
                        <a:rPr lang="en-US" baseline="0" dirty="0" smtClean="0"/>
                        <a:t> 3</a:t>
                      </a:r>
                      <a:endParaRPr lang="en-US" dirty="0"/>
                    </a:p>
                  </a:txBody>
                  <a:tcPr/>
                </a:tc>
              </a:tr>
              <a:tr h="370271">
                <a:tc>
                  <a:txBody>
                    <a:bodyPr/>
                    <a:lstStyle/>
                    <a:p>
                      <a:r>
                        <a:rPr lang="en-US" dirty="0" smtClean="0"/>
                        <a:t>am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</a:tr>
              <a:tr h="370271">
                <a:tc>
                  <a:txBody>
                    <a:bodyPr/>
                    <a:lstStyle/>
                    <a:p>
                      <a:r>
                        <a:rPr lang="en-US" dirty="0" smtClean="0"/>
                        <a:t>happiness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</a:tr>
              <a:tr h="370271">
                <a:tc>
                  <a:txBody>
                    <a:bodyPr/>
                    <a:lstStyle/>
                    <a:p>
                      <a:r>
                        <a:rPr lang="en-US" dirty="0" smtClean="0"/>
                        <a:t>happy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</a:tr>
              <a:tr h="370271">
                <a:tc>
                  <a:txBody>
                    <a:bodyPr/>
                    <a:lstStyle/>
                    <a:p>
                      <a:r>
                        <a:rPr lang="en-US" dirty="0" smtClean="0"/>
                        <a:t>he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</a:tr>
              <a:tr h="370271">
                <a:tc>
                  <a:txBody>
                    <a:bodyPr/>
                    <a:lstStyle/>
                    <a:p>
                      <a:r>
                        <a:rPr lang="en-US" dirty="0" smtClean="0"/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271">
                <a:tc>
                  <a:txBody>
                    <a:bodyPr/>
                    <a:lstStyle/>
                    <a:p>
                      <a:r>
                        <a:rPr lang="en-US" dirty="0" smtClean="0"/>
                        <a:t>see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364202" y="1395662"/>
            <a:ext cx="3596918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I am happy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5364202" y="2109152"/>
            <a:ext cx="3596918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He is not happy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5364202" y="2778694"/>
            <a:ext cx="3596918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I see happiness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696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490" y="0"/>
            <a:ext cx="1228049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6080" y="0"/>
            <a:ext cx="1257808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682240" y="0"/>
            <a:ext cx="9509760" cy="6858000"/>
          </a:xfrm>
          <a:prstGeom prst="rect">
            <a:avLst/>
          </a:prstGeom>
          <a:solidFill>
            <a:schemeClr val="bg1">
              <a:alpha val="81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i="1" dirty="0" smtClean="0">
                <a:solidFill>
                  <a:srgbClr val="FFC000"/>
                </a:solidFill>
                <a:latin typeface="+mj-lt"/>
              </a:rPr>
              <a:t> </a:t>
            </a:r>
          </a:p>
          <a:p>
            <a:pPr algn="ctr"/>
            <a:endParaRPr lang="en-US" sz="6000" b="1" dirty="0" smtClean="0">
              <a:solidFill>
                <a:srgbClr val="FFFF00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9100" y="810250"/>
            <a:ext cx="2086661" cy="60939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Label encoding</a:t>
            </a:r>
          </a:p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One Hot Encoding</a:t>
            </a:r>
          </a:p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Term Doc Incidence Matrix</a:t>
            </a:r>
            <a:endParaRPr lang="en-US" sz="1200" b="1" dirty="0" smtClean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Bag Of Words</a:t>
            </a:r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TF-IDF</a:t>
            </a:r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Word </a:t>
            </a:r>
            <a:r>
              <a:rPr lang="en-US" sz="1200" b="1" dirty="0" err="1">
                <a:solidFill>
                  <a:schemeClr val="bg2">
                    <a:lumMod val="50000"/>
                  </a:schemeClr>
                </a:solidFill>
              </a:rPr>
              <a:t>E</a:t>
            </a:r>
            <a:r>
              <a:rPr lang="en-US" sz="1200" b="1" dirty="0" err="1" smtClean="0">
                <a:solidFill>
                  <a:schemeClr val="bg2">
                    <a:lumMod val="50000"/>
                  </a:schemeClr>
                </a:solidFill>
              </a:rPr>
              <a:t>mbeddings</a:t>
            </a:r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 </a:t>
            </a:r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K-Nearest Neighbors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Naïve Bayes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K-Means Clustering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Hierarchical Clustering</a:t>
            </a: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Principal Component Analysis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DBSCAN</a:t>
            </a: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Q-Learning</a:t>
            </a: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Deep Q-learning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Policy Gradient Method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1">
                  <a:lumMod val="50000"/>
                </a:schemeClr>
              </a:solidFill>
            </a:endParaRPr>
          </a:p>
          <a:p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3312496" y="2265328"/>
            <a:ext cx="8249248" cy="3785652"/>
          </a:xfrm>
          <a:prstGeom prst="rect">
            <a:avLst/>
          </a:prstGeom>
          <a:noFill/>
          <a:ln w="571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6000" dirty="0" smtClean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Can you point </a:t>
            </a:r>
          </a:p>
          <a:p>
            <a:pPr algn="ctr"/>
            <a:r>
              <a:rPr lang="en-US" sz="6000" dirty="0" smtClean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out one </a:t>
            </a:r>
            <a:r>
              <a:rPr lang="en-US" sz="60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weakness</a:t>
            </a:r>
            <a:r>
              <a:rPr lang="en-US" sz="6000" dirty="0" smtClean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 of this approach?</a:t>
            </a:r>
          </a:p>
          <a:p>
            <a:pPr algn="ctr"/>
            <a:r>
              <a:rPr lang="en-US" sz="6000" dirty="0" smtClean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 </a:t>
            </a:r>
            <a:endParaRPr lang="en-US" sz="4000" dirty="0" smtClean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mic Sans MS" panose="030F0702030302020204" pitchFamily="66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060509" y="1088977"/>
            <a:ext cx="2753222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>
                <a:lumMod val="9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>
                    <a:lumMod val="95000"/>
                  </a:schemeClr>
                </a:solidFill>
                <a:latin typeface="Berlin Sans FB Demi" panose="020E0802020502020306" pitchFamily="34" charset="0"/>
              </a:rPr>
              <a:t>Discussion Point</a:t>
            </a:r>
            <a:endParaRPr lang="en-US" dirty="0">
              <a:solidFill>
                <a:schemeClr val="bg1">
                  <a:lumMod val="95000"/>
                </a:schemeClr>
              </a:solidFill>
              <a:latin typeface="Berlin Sans FB Demi" panose="020E08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8740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490" y="0"/>
            <a:ext cx="1228049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6080" y="0"/>
            <a:ext cx="1257808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682240" y="0"/>
            <a:ext cx="9509760" cy="6858000"/>
          </a:xfrm>
          <a:prstGeom prst="rect">
            <a:avLst/>
          </a:prstGeom>
          <a:solidFill>
            <a:schemeClr val="bg1">
              <a:alpha val="8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i="1" dirty="0" smtClean="0">
                <a:solidFill>
                  <a:srgbClr val="FFC000"/>
                </a:solidFill>
                <a:latin typeface="+mj-lt"/>
              </a:rPr>
              <a:t> </a:t>
            </a:r>
          </a:p>
          <a:p>
            <a:pPr algn="ctr"/>
            <a:endParaRPr lang="en-US" sz="6000" b="1" dirty="0" smtClean="0">
              <a:solidFill>
                <a:srgbClr val="FFFF00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9100" y="810250"/>
            <a:ext cx="2086661" cy="60939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Label encoding</a:t>
            </a:r>
          </a:p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One Hot Encoding</a:t>
            </a:r>
          </a:p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Term Doc Incidence Matrix</a:t>
            </a:r>
            <a:endParaRPr lang="en-US" sz="1200" b="1" dirty="0" smtClean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Bag Of Words</a:t>
            </a:r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TF-IDF</a:t>
            </a:r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Word </a:t>
            </a:r>
            <a:r>
              <a:rPr lang="en-US" sz="1200" b="1" dirty="0" err="1">
                <a:solidFill>
                  <a:schemeClr val="bg2">
                    <a:lumMod val="50000"/>
                  </a:schemeClr>
                </a:solidFill>
              </a:rPr>
              <a:t>E</a:t>
            </a:r>
            <a:r>
              <a:rPr lang="en-US" sz="1200" b="1" dirty="0" err="1" smtClean="0">
                <a:solidFill>
                  <a:schemeClr val="bg2">
                    <a:lumMod val="50000"/>
                  </a:schemeClr>
                </a:solidFill>
              </a:rPr>
              <a:t>mbeddings</a:t>
            </a:r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 </a:t>
            </a:r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K-Nearest Neighbors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Naïve Bayes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K-Means Clustering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Hierarchical Clustering</a:t>
            </a: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Principal Component Analysis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DBSCAN</a:t>
            </a: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Q-Learning</a:t>
            </a: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Deep Q-learning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Policy Gradient Method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1">
                  <a:lumMod val="50000"/>
                </a:schemeClr>
              </a:solidFill>
            </a:endParaRPr>
          </a:p>
          <a:p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3551325" y="2897135"/>
            <a:ext cx="777159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dirty="0" smtClean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Eras Bold ITC" panose="020B0907030504020204" pitchFamily="34" charset="0"/>
              </a:rPr>
              <a:t>B</a:t>
            </a:r>
            <a:r>
              <a:rPr lang="en-US" sz="8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Eras Bold ITC" panose="020B0907030504020204" pitchFamily="34" charset="0"/>
              </a:rPr>
              <a:t>ag-</a:t>
            </a:r>
            <a:r>
              <a:rPr lang="en-US" sz="8000" dirty="0" smtClean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Eras Bold ITC" panose="020B0907030504020204" pitchFamily="34" charset="0"/>
              </a:rPr>
              <a:t>o</a:t>
            </a:r>
            <a:r>
              <a:rPr lang="en-US" sz="8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Eras Bold ITC" panose="020B0907030504020204" pitchFamily="34" charset="0"/>
              </a:rPr>
              <a:t>f</a:t>
            </a:r>
            <a:r>
              <a:rPr lang="en-US" sz="8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Eras Bold ITC" panose="020B0907030504020204" pitchFamily="34" charset="0"/>
              </a:rPr>
              <a:t>-</a:t>
            </a:r>
            <a:r>
              <a:rPr lang="en-US" sz="8000" dirty="0" smtClean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Eras Bold ITC" panose="020B0907030504020204" pitchFamily="34" charset="0"/>
              </a:rPr>
              <a:t>Words</a:t>
            </a:r>
            <a:endParaRPr lang="en-US" sz="8000" dirty="0" smtClean="0">
              <a:ln w="0"/>
              <a:solidFill>
                <a:schemeClr val="bg2">
                  <a:lumMod val="1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1655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490" y="0"/>
            <a:ext cx="1228049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6080" y="0"/>
            <a:ext cx="1257808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682240" y="0"/>
            <a:ext cx="9509760" cy="6858000"/>
          </a:xfrm>
          <a:prstGeom prst="rect">
            <a:avLst/>
          </a:prstGeom>
          <a:solidFill>
            <a:schemeClr val="bg1">
              <a:alpha val="81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i="1" dirty="0" smtClean="0">
                <a:solidFill>
                  <a:srgbClr val="FFC000"/>
                </a:solidFill>
                <a:latin typeface="+mj-lt"/>
              </a:rPr>
              <a:t> </a:t>
            </a:r>
          </a:p>
          <a:p>
            <a:pPr algn="ctr"/>
            <a:endParaRPr lang="en-US" sz="6000" b="1" dirty="0" smtClean="0">
              <a:solidFill>
                <a:srgbClr val="FFFF00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9100" y="810250"/>
            <a:ext cx="2086661" cy="60939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Label encoding</a:t>
            </a:r>
          </a:p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One Hot Encoding</a:t>
            </a:r>
          </a:p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Term Doc Incidence Matrix</a:t>
            </a:r>
            <a:endParaRPr lang="en-US" sz="1200" b="1" dirty="0" smtClean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Bag Of Words</a:t>
            </a:r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TF-IDF</a:t>
            </a:r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Word </a:t>
            </a:r>
            <a:r>
              <a:rPr lang="en-US" sz="1200" b="1" dirty="0" err="1">
                <a:solidFill>
                  <a:schemeClr val="bg2">
                    <a:lumMod val="50000"/>
                  </a:schemeClr>
                </a:solidFill>
              </a:rPr>
              <a:t>E</a:t>
            </a:r>
            <a:r>
              <a:rPr lang="en-US" sz="1200" b="1" dirty="0" err="1" smtClean="0">
                <a:solidFill>
                  <a:schemeClr val="bg2">
                    <a:lumMod val="50000"/>
                  </a:schemeClr>
                </a:solidFill>
              </a:rPr>
              <a:t>mbeddings</a:t>
            </a:r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 </a:t>
            </a:r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K-Nearest Neighbors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Naïve Bayes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K-Means Clustering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Hierarchical Clustering</a:t>
            </a: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Principal Component Analysis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DBSCAN</a:t>
            </a: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Q-Learning</a:t>
            </a: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Deep Q-learning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Policy Gradient Method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1">
                  <a:lumMod val="50000"/>
                </a:schemeClr>
              </a:solidFill>
            </a:endParaRPr>
          </a:p>
          <a:p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3312496" y="2265328"/>
            <a:ext cx="8249248" cy="3970318"/>
          </a:xfrm>
          <a:prstGeom prst="rect">
            <a:avLst/>
          </a:prstGeom>
          <a:noFill/>
          <a:ln w="571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4800" dirty="0" smtClean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Converts text into </a:t>
            </a:r>
            <a:r>
              <a:rPr lang="en-US" sz="4800" b="1" dirty="0" smtClean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collection </a:t>
            </a:r>
            <a:r>
              <a:rPr lang="en-US" sz="4800" dirty="0" smtClean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of </a:t>
            </a:r>
            <a:r>
              <a:rPr lang="en-US" sz="4800" b="1" dirty="0" smtClean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words </a:t>
            </a:r>
            <a:r>
              <a:rPr lang="en-US" sz="4800" dirty="0" smtClean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and count how often a word appear in text</a:t>
            </a:r>
          </a:p>
          <a:p>
            <a:pPr algn="ctr"/>
            <a:r>
              <a:rPr lang="en-US" sz="6000" dirty="0" smtClean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 </a:t>
            </a:r>
            <a:endParaRPr lang="en-US" sz="4000" dirty="0" smtClean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mic Sans MS" panose="030F0702030302020204" pitchFamily="66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060509" y="1088977"/>
            <a:ext cx="2753222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>
                <a:lumMod val="9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>
                    <a:lumMod val="95000"/>
                  </a:schemeClr>
                </a:solidFill>
                <a:latin typeface="Berlin Sans FB Demi" panose="020E0802020502020306" pitchFamily="34" charset="0"/>
              </a:rPr>
              <a:t>How it works</a:t>
            </a:r>
            <a:endParaRPr lang="en-US" dirty="0">
              <a:solidFill>
                <a:schemeClr val="bg1">
                  <a:lumMod val="95000"/>
                </a:schemeClr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385235" y="5779686"/>
            <a:ext cx="4103769" cy="369332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Berlin Sans FB Demi" panose="020E0802020502020306" pitchFamily="34" charset="0"/>
              </a:rPr>
              <a:t>Focuses on word frequency only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Berlin Sans FB Demi" panose="020E08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5151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490" y="0"/>
            <a:ext cx="1228049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6080" y="0"/>
            <a:ext cx="1257808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682240" y="0"/>
            <a:ext cx="9509760" cy="6858000"/>
          </a:xfrm>
          <a:prstGeom prst="rect">
            <a:avLst/>
          </a:prstGeom>
          <a:solidFill>
            <a:schemeClr val="bg1">
              <a:alpha val="8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i="1" dirty="0" smtClean="0">
                <a:solidFill>
                  <a:srgbClr val="FFC000"/>
                </a:solidFill>
                <a:latin typeface="+mj-lt"/>
              </a:rPr>
              <a:t> </a:t>
            </a:r>
          </a:p>
          <a:p>
            <a:pPr algn="ctr"/>
            <a:endParaRPr lang="en-US" sz="6000" b="1" dirty="0" smtClean="0">
              <a:solidFill>
                <a:srgbClr val="FFFF00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9100" y="810250"/>
            <a:ext cx="2086661" cy="60939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Label encoding</a:t>
            </a:r>
          </a:p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One Hot Encoding</a:t>
            </a:r>
          </a:p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Term Doc Incidence Matrix</a:t>
            </a:r>
            <a:endParaRPr lang="en-US" sz="1200" b="1" dirty="0" smtClean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Bag Of Words</a:t>
            </a:r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TF-IDF</a:t>
            </a:r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Word </a:t>
            </a:r>
            <a:r>
              <a:rPr lang="en-US" sz="1200" b="1" dirty="0" err="1">
                <a:solidFill>
                  <a:schemeClr val="bg2">
                    <a:lumMod val="50000"/>
                  </a:schemeClr>
                </a:solidFill>
              </a:rPr>
              <a:t>E</a:t>
            </a:r>
            <a:r>
              <a:rPr lang="en-US" sz="1200" b="1" dirty="0" err="1" smtClean="0">
                <a:solidFill>
                  <a:schemeClr val="bg2">
                    <a:lumMod val="50000"/>
                  </a:schemeClr>
                </a:solidFill>
              </a:rPr>
              <a:t>mbeddings</a:t>
            </a:r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 </a:t>
            </a:r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K-Nearest Neighbors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Naïve Bayes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K-Means Clustering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Hierarchical Clustering</a:t>
            </a: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Principal Component Analysis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DBSCAN</a:t>
            </a: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Q-Learning</a:t>
            </a: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Deep Q-learning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Policy Gradient Method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1">
                  <a:lumMod val="50000"/>
                </a:schemeClr>
              </a:solidFill>
            </a:endParaRPr>
          </a:p>
          <a:p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5786050" y="646131"/>
            <a:ext cx="2753222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>
                <a:lumMod val="9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>
                    <a:lumMod val="95000"/>
                  </a:schemeClr>
                </a:solidFill>
                <a:latin typeface="Berlin Sans FB Demi" panose="020E0802020502020306" pitchFamily="34" charset="0"/>
              </a:rPr>
              <a:t>How does it work</a:t>
            </a:r>
            <a:endParaRPr lang="en-US" dirty="0">
              <a:solidFill>
                <a:schemeClr val="bg1">
                  <a:lumMod val="95000"/>
                </a:schemeClr>
              </a:solidFill>
              <a:latin typeface="Berlin Sans FB Demi" panose="020E0802020502020306" pitchFamily="34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8859579"/>
              </p:ext>
            </p:extLst>
          </p:nvPr>
        </p:nvGraphicFramePr>
        <p:xfrm>
          <a:off x="4708672" y="3387024"/>
          <a:ext cx="5117712" cy="3231977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279428"/>
                <a:gridCol w="1279428"/>
                <a:gridCol w="1279428"/>
                <a:gridCol w="1279428"/>
              </a:tblGrid>
              <a:tr h="448060">
                <a:tc>
                  <a:txBody>
                    <a:bodyPr/>
                    <a:lstStyle/>
                    <a:p>
                      <a:r>
                        <a:rPr lang="en-US" dirty="0" smtClean="0"/>
                        <a:t>Is</a:t>
                      </a:r>
                      <a:r>
                        <a:rPr lang="en-US" baseline="0" dirty="0" smtClean="0"/>
                        <a:t> present in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Doc</a:t>
                      </a:r>
                      <a:r>
                        <a:rPr lang="en-US" baseline="0" dirty="0" smtClean="0"/>
                        <a:t> 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Doc</a:t>
                      </a:r>
                      <a:r>
                        <a:rPr lang="en-US" baseline="0" dirty="0" smtClean="0"/>
                        <a:t> 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Doc</a:t>
                      </a:r>
                      <a:r>
                        <a:rPr lang="en-US" baseline="0" dirty="0" smtClean="0"/>
                        <a:t> 3</a:t>
                      </a:r>
                      <a:endParaRPr lang="en-US" dirty="0"/>
                    </a:p>
                  </a:txBody>
                  <a:tcPr/>
                </a:tc>
              </a:tr>
              <a:tr h="370271">
                <a:tc>
                  <a:txBody>
                    <a:bodyPr/>
                    <a:lstStyle/>
                    <a:p>
                      <a:r>
                        <a:rPr lang="en-US" dirty="0" smtClean="0"/>
                        <a:t>am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</a:tr>
              <a:tr h="370271">
                <a:tc>
                  <a:txBody>
                    <a:bodyPr/>
                    <a:lstStyle/>
                    <a:p>
                      <a:r>
                        <a:rPr lang="en-US" dirty="0" smtClean="0"/>
                        <a:t>and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</a:tr>
              <a:tr h="370271">
                <a:tc>
                  <a:txBody>
                    <a:bodyPr/>
                    <a:lstStyle/>
                    <a:p>
                      <a:r>
                        <a:rPr lang="en-US" dirty="0" smtClean="0"/>
                        <a:t>happiness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</a:tr>
              <a:tr h="370271">
                <a:tc>
                  <a:txBody>
                    <a:bodyPr/>
                    <a:lstStyle/>
                    <a:p>
                      <a:r>
                        <a:rPr lang="en-US" dirty="0" smtClean="0"/>
                        <a:t>happy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</a:tr>
              <a:tr h="370271">
                <a:tc>
                  <a:txBody>
                    <a:bodyPr/>
                    <a:lstStyle/>
                    <a:p>
                      <a:r>
                        <a:rPr lang="en-US" dirty="0" smtClean="0"/>
                        <a:t>he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</a:tr>
              <a:tr h="370271">
                <a:tc>
                  <a:txBody>
                    <a:bodyPr/>
                    <a:lstStyle/>
                    <a:p>
                      <a:r>
                        <a:rPr lang="en-US" dirty="0" smtClean="0"/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271">
                <a:tc>
                  <a:txBody>
                    <a:bodyPr/>
                    <a:lstStyle/>
                    <a:p>
                      <a:r>
                        <a:rPr lang="en-US" dirty="0" smtClean="0"/>
                        <a:t>see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364202" y="1395662"/>
            <a:ext cx="3596918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I am happy if everyone is happy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5364202" y="2109152"/>
            <a:ext cx="3596918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He is not happy and he is hungry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5364202" y="2778694"/>
            <a:ext cx="3596918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I see happiness ,then happiness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5031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490" y="0"/>
            <a:ext cx="1228049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6080" y="0"/>
            <a:ext cx="1257808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682240" y="0"/>
            <a:ext cx="9509760" cy="6858000"/>
          </a:xfrm>
          <a:prstGeom prst="rect">
            <a:avLst/>
          </a:prstGeom>
          <a:solidFill>
            <a:schemeClr val="bg1">
              <a:alpha val="81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i="1" dirty="0" smtClean="0">
                <a:solidFill>
                  <a:srgbClr val="FFC000"/>
                </a:solidFill>
                <a:latin typeface="+mj-lt"/>
              </a:rPr>
              <a:t> </a:t>
            </a:r>
          </a:p>
          <a:p>
            <a:pPr algn="ctr"/>
            <a:endParaRPr lang="en-US" sz="6000" b="1" dirty="0" smtClean="0">
              <a:solidFill>
                <a:srgbClr val="FFFF00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9100" y="810250"/>
            <a:ext cx="2086661" cy="60939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Label encoding</a:t>
            </a:r>
          </a:p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One Hot Encoding</a:t>
            </a:r>
          </a:p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Term Doc Incidence Matrix</a:t>
            </a:r>
            <a:endParaRPr lang="en-US" sz="1200" b="1" dirty="0" smtClean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Bag Of Words</a:t>
            </a:r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TF-IDF</a:t>
            </a:r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Word </a:t>
            </a:r>
            <a:r>
              <a:rPr lang="en-US" sz="1200" b="1" dirty="0" err="1">
                <a:solidFill>
                  <a:schemeClr val="bg2">
                    <a:lumMod val="50000"/>
                  </a:schemeClr>
                </a:solidFill>
              </a:rPr>
              <a:t>E</a:t>
            </a:r>
            <a:r>
              <a:rPr lang="en-US" sz="1200" b="1" dirty="0" err="1" smtClean="0">
                <a:solidFill>
                  <a:schemeClr val="bg2">
                    <a:lumMod val="50000"/>
                  </a:schemeClr>
                </a:solidFill>
              </a:rPr>
              <a:t>mbeddings</a:t>
            </a:r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 </a:t>
            </a:r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K-Nearest Neighbors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Naïve Bayes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K-Means Clustering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Hierarchical Clustering</a:t>
            </a: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Principal Component Analysis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DBSCAN</a:t>
            </a: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Q-Learning</a:t>
            </a: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Deep Q-learning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Policy Gradient Method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1">
                  <a:lumMod val="50000"/>
                </a:schemeClr>
              </a:solidFill>
            </a:endParaRPr>
          </a:p>
          <a:p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3312496" y="2265328"/>
            <a:ext cx="8249248" cy="3785652"/>
          </a:xfrm>
          <a:prstGeom prst="rect">
            <a:avLst/>
          </a:prstGeom>
          <a:noFill/>
          <a:ln w="571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6000" dirty="0" smtClean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Can you point </a:t>
            </a:r>
          </a:p>
          <a:p>
            <a:pPr algn="ctr"/>
            <a:r>
              <a:rPr lang="en-US" sz="6000" dirty="0" smtClean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out one </a:t>
            </a:r>
            <a:r>
              <a:rPr lang="en-US" sz="60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weakness</a:t>
            </a:r>
            <a:r>
              <a:rPr lang="en-US" sz="6000" dirty="0" smtClean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 of this approach?</a:t>
            </a:r>
          </a:p>
          <a:p>
            <a:pPr algn="ctr"/>
            <a:r>
              <a:rPr lang="en-US" sz="6000" dirty="0" smtClean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 </a:t>
            </a:r>
            <a:endParaRPr lang="en-US" sz="4000" dirty="0" smtClean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mic Sans MS" panose="030F0702030302020204" pitchFamily="66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060509" y="1088977"/>
            <a:ext cx="2753222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>
                <a:lumMod val="9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>
                    <a:lumMod val="95000"/>
                  </a:schemeClr>
                </a:solidFill>
                <a:latin typeface="Berlin Sans FB Demi" panose="020E0802020502020306" pitchFamily="34" charset="0"/>
              </a:rPr>
              <a:t>Discussion Point</a:t>
            </a:r>
            <a:endParaRPr lang="en-US" dirty="0">
              <a:solidFill>
                <a:schemeClr val="bg1">
                  <a:lumMod val="95000"/>
                </a:schemeClr>
              </a:solidFill>
              <a:latin typeface="Berlin Sans FB Demi" panose="020E08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156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490" y="0"/>
            <a:ext cx="1228049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6080" y="0"/>
            <a:ext cx="1257808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682240" y="0"/>
            <a:ext cx="9509760" cy="6858000"/>
          </a:xfrm>
          <a:prstGeom prst="rect">
            <a:avLst/>
          </a:prstGeom>
          <a:solidFill>
            <a:schemeClr val="bg1">
              <a:alpha val="8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i="1" dirty="0" smtClean="0">
                <a:solidFill>
                  <a:srgbClr val="FFC000"/>
                </a:solidFill>
                <a:latin typeface="+mj-lt"/>
              </a:rPr>
              <a:t> </a:t>
            </a:r>
          </a:p>
          <a:p>
            <a:pPr algn="ctr"/>
            <a:endParaRPr lang="en-US" sz="6000" b="1" dirty="0" smtClean="0">
              <a:solidFill>
                <a:srgbClr val="FFFF00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9100" y="810250"/>
            <a:ext cx="2086661" cy="60939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Label encoding</a:t>
            </a:r>
          </a:p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One Hot Encoding</a:t>
            </a:r>
          </a:p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Term Doc Incidence Matrix</a:t>
            </a:r>
            <a:endParaRPr lang="en-US" sz="1200" b="1" dirty="0" smtClean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Bag Of Words</a:t>
            </a:r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TF-IDF</a:t>
            </a:r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Word </a:t>
            </a:r>
            <a:r>
              <a:rPr lang="en-US" sz="1200" b="1" dirty="0" err="1">
                <a:solidFill>
                  <a:schemeClr val="bg2">
                    <a:lumMod val="50000"/>
                  </a:schemeClr>
                </a:solidFill>
              </a:rPr>
              <a:t>E</a:t>
            </a:r>
            <a:r>
              <a:rPr lang="en-US" sz="1200" b="1" dirty="0" err="1" smtClean="0">
                <a:solidFill>
                  <a:schemeClr val="bg2">
                    <a:lumMod val="50000"/>
                  </a:schemeClr>
                </a:solidFill>
              </a:rPr>
              <a:t>mbeddings</a:t>
            </a:r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 </a:t>
            </a:r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K-Nearest Neighbors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Naïve Bayes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K-Means Clustering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Hierarchical Clustering</a:t>
            </a: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Principal Component Analysis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DBSCAN</a:t>
            </a: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Q-Learning</a:t>
            </a: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Deep Q-learning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Policy Gradient Method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1">
                  <a:lumMod val="50000"/>
                </a:schemeClr>
              </a:solidFill>
            </a:endParaRPr>
          </a:p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2974206" y="868986"/>
            <a:ext cx="8691613" cy="866274"/>
            <a:chOff x="3898233" y="868986"/>
            <a:chExt cx="7392202" cy="866274"/>
          </a:xfrm>
        </p:grpSpPr>
        <p:sp>
          <p:nvSpPr>
            <p:cNvPr id="7" name="Rounded Rectangle 6"/>
            <p:cNvSpPr/>
            <p:nvPr/>
          </p:nvSpPr>
          <p:spPr>
            <a:xfrm>
              <a:off x="3898233" y="868986"/>
              <a:ext cx="7392202" cy="866274"/>
            </a:xfrm>
            <a:prstGeom prst="round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" name="Group 9"/>
            <p:cNvGrpSpPr/>
            <p:nvPr/>
          </p:nvGrpSpPr>
          <p:grpSpPr>
            <a:xfrm>
              <a:off x="4279908" y="961260"/>
              <a:ext cx="545429" cy="151306"/>
              <a:chOff x="4235116" y="1575331"/>
              <a:chExt cx="545429" cy="151306"/>
            </a:xfrm>
          </p:grpSpPr>
          <p:sp>
            <p:nvSpPr>
              <p:cNvPr id="9" name="Oval 8"/>
              <p:cNvSpPr/>
              <p:nvPr/>
            </p:nvSpPr>
            <p:spPr>
              <a:xfrm>
                <a:off x="4235116" y="1578543"/>
                <a:ext cx="144379" cy="148094"/>
              </a:xfrm>
              <a:prstGeom prst="ellipse">
                <a:avLst/>
              </a:prstGeom>
              <a:solidFill>
                <a:srgbClr val="F13F98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Oval 10"/>
              <p:cNvSpPr/>
              <p:nvPr/>
            </p:nvSpPr>
            <p:spPr>
              <a:xfrm>
                <a:off x="4435641" y="1576937"/>
                <a:ext cx="144379" cy="148094"/>
              </a:xfrm>
              <a:prstGeom prst="ellipse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Oval 11"/>
              <p:cNvSpPr/>
              <p:nvPr/>
            </p:nvSpPr>
            <p:spPr>
              <a:xfrm>
                <a:off x="4636166" y="1575331"/>
                <a:ext cx="144379" cy="148094"/>
              </a:xfrm>
              <a:prstGeom prst="ellipse">
                <a:avLst/>
              </a:prstGeom>
              <a:solidFill>
                <a:srgbClr val="92D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13" name="TextBox 12"/>
          <p:cNvSpPr txBox="1"/>
          <p:nvPr/>
        </p:nvSpPr>
        <p:spPr>
          <a:xfrm>
            <a:off x="6483416" y="868986"/>
            <a:ext cx="24255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empus Sans ITC" panose="04020404030D07020202" pitchFamily="82" charset="0"/>
              </a:rPr>
              <a:t>Bag-Of-Words.py</a:t>
            </a:r>
            <a:endParaRPr lang="en-US" sz="1600" dirty="0">
              <a:solidFill>
                <a:schemeClr val="bg1"/>
              </a:solidFill>
              <a:latin typeface="Tempus Sans ITC" panose="04020404030D07020202" pitchFamily="82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974206" y="1207540"/>
            <a:ext cx="8691613" cy="513986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57150">
            <a:noFill/>
          </a:ln>
        </p:spPr>
        <p:txBody>
          <a:bodyPr wrap="square" rtlCol="0">
            <a:spAutoFit/>
          </a:bodyPr>
          <a:lstStyle/>
          <a:p>
            <a:endParaRPr lang="en-US" dirty="0" smtClean="0">
              <a:ln w="0"/>
              <a:solidFill>
                <a:schemeClr val="bg2">
                  <a:lumMod val="1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mic Sans MS" panose="030F0702030302020204" pitchFamily="66" charset="0"/>
            </a:endParaRPr>
          </a:p>
          <a:p>
            <a:r>
              <a:rPr lang="en-US" sz="1200" b="1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import </a:t>
            </a:r>
            <a:r>
              <a:rPr lang="en-US" sz="12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pandas</a:t>
            </a:r>
            <a:r>
              <a:rPr lang="en-US" sz="1200" b="1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as </a:t>
            </a:r>
            <a:r>
              <a:rPr lang="en-US" sz="1200" b="1" dirty="0" err="1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pd</a:t>
            </a:r>
            <a:endParaRPr lang="en-US" sz="1200" b="1" dirty="0" smtClean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sklearn.feature_extraction.text</a:t>
            </a:r>
            <a:r>
              <a:rPr 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dirty="0" smtClean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dirty="0" err="1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CountVectorizer</a:t>
            </a:r>
            <a:endParaRPr lang="en-US" sz="1200" b="1" dirty="0" smtClean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200" b="1" dirty="0" smtClean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b="1" dirty="0" smtClean="0">
                <a:ln w="0"/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sz="1200" b="1" dirty="0">
                <a:ln w="0"/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1. Create a sample </a:t>
            </a:r>
            <a:r>
              <a:rPr lang="en-US" sz="1200" b="1" dirty="0" smtClean="0">
                <a:ln w="0"/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dataset with text reviews</a:t>
            </a:r>
          </a:p>
          <a:p>
            <a:r>
              <a:rPr lang="en-US" sz="1200" b="1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data </a:t>
            </a:r>
            <a:r>
              <a:rPr lang="en-US" sz="12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1200" b="1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{‘reviews': </a:t>
            </a:r>
            <a:r>
              <a:rPr lang="en-US" sz="1200" b="1" dirty="0" smtClean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[‘the food is good',</a:t>
            </a:r>
          </a:p>
          <a:p>
            <a:r>
              <a:rPr lang="en-US" sz="1200" b="1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dirty="0" smtClean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'New food is terrible',</a:t>
            </a:r>
          </a:p>
          <a:p>
            <a:r>
              <a:rPr lang="en-US" sz="1200" b="1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dirty="0" smtClean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‘good food and good services']</a:t>
            </a:r>
          </a:p>
          <a:p>
            <a:r>
              <a:rPr lang="en-US" sz="1200" b="1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dirty="0" smtClean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            </a:t>
            </a:r>
            <a:r>
              <a:rPr lang="en-US" sz="1200" b="1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sz="1200" b="1" dirty="0" smtClean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b="1" dirty="0" err="1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1200" b="1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1200" b="1" dirty="0" err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pd.DataFrame</a:t>
            </a:r>
            <a:r>
              <a:rPr lang="en-US" sz="12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(data</a:t>
            </a:r>
            <a:r>
              <a:rPr lang="en-US" sz="1200" b="1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sz="1200" b="1" dirty="0" smtClean="0">
              <a:ln w="0"/>
              <a:solidFill>
                <a:srgbClr val="FFFF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2. Initialize the </a:t>
            </a:r>
            <a:r>
              <a:rPr lang="en-US" sz="1200" b="1" dirty="0" err="1" smtClean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CountVectorizer</a:t>
            </a:r>
            <a:endParaRPr lang="en-US" sz="1200" b="1" dirty="0" smtClean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b="1" dirty="0" smtClean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sz="1200" b="1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stop_words</a:t>
            </a:r>
            <a:r>
              <a:rPr lang="en-US" sz="12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='</a:t>
            </a:r>
            <a:r>
              <a:rPr lang="en-US" sz="1200" b="1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english</a:t>
            </a:r>
            <a:r>
              <a:rPr lang="en-US" sz="12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 removes useless words like 'the' and 'and' to save </a:t>
            </a:r>
            <a:r>
              <a:rPr lang="en-US" sz="1200" b="1" dirty="0" smtClean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memory</a:t>
            </a:r>
          </a:p>
          <a:p>
            <a:r>
              <a:rPr lang="en-US" sz="1200" b="1" dirty="0" err="1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vectorizer</a:t>
            </a:r>
            <a:r>
              <a:rPr lang="en-US" sz="1200" b="1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12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CountVectorizer</a:t>
            </a:r>
            <a:r>
              <a:rPr 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2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stop_words</a:t>
            </a:r>
            <a:r>
              <a:rPr 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200" b="1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sz="1200" b="1" dirty="0" err="1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english</a:t>
            </a:r>
            <a:r>
              <a:rPr lang="en-US" sz="1200" b="1" dirty="0" smtClean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sz="1200" b="1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sz="1200" b="1" dirty="0" smtClean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3. Fit and transform the text column </a:t>
            </a:r>
            <a:endParaRPr lang="en-US" sz="1400" b="1" dirty="0" smtClean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b="1" dirty="0" smtClean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sz="14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This learns the unique vocabulary and counts the word occurrences </a:t>
            </a:r>
            <a:endParaRPr lang="en-US" sz="1400" b="1" dirty="0" smtClean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b="1" dirty="0" err="1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bow_matrix</a:t>
            </a:r>
            <a:r>
              <a:rPr lang="en-US" sz="1400" b="1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14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vectorizer.fit_transform</a:t>
            </a:r>
            <a:r>
              <a:rPr lang="en-US" sz="1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1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400" b="1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sz="1400" b="1" dirty="0" err="1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Text_Reviews</a:t>
            </a:r>
            <a:r>
              <a:rPr lang="en-US" sz="1400" b="1" dirty="0" smtClean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sz="1400" b="1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])</a:t>
            </a:r>
          </a:p>
          <a:p>
            <a:endParaRPr lang="en-US" sz="16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4. Convert the matrix into a clean Pandas </a:t>
            </a:r>
            <a:r>
              <a:rPr lang="en-US" sz="1200" b="1" dirty="0" err="1" smtClean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DataFrame</a:t>
            </a:r>
            <a:endParaRPr lang="en-US" sz="1200" b="1" dirty="0" smtClean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b="1" dirty="0" smtClean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sz="1200" b="1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vectorizer.get_feature_names_out</a:t>
            </a:r>
            <a:r>
              <a:rPr lang="en-US" sz="12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extracts the learned vocabulary as column names </a:t>
            </a:r>
            <a:endParaRPr lang="en-US" sz="1200" b="1" dirty="0" smtClean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200" b="1" dirty="0" smtClean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b="1" dirty="0" err="1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df_bow</a:t>
            </a:r>
            <a:r>
              <a:rPr lang="en-US" sz="1200" b="1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12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pd.DataFrame</a:t>
            </a:r>
            <a:r>
              <a:rPr 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2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bow_matrix</a:t>
            </a:r>
            <a:r>
              <a:rPr lang="en-US" sz="1200" b="1" dirty="0" err="1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.toarray</a:t>
            </a:r>
            <a:r>
              <a:rPr lang="en-US" sz="1200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(), </a:t>
            </a:r>
            <a:r>
              <a:rPr 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columns=</a:t>
            </a:r>
            <a:r>
              <a:rPr lang="en-US" sz="12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vectorizer.</a:t>
            </a:r>
            <a:r>
              <a:rPr lang="en-US" sz="1200" b="1" dirty="0" err="1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get_feature_names_out</a:t>
            </a:r>
            <a:r>
              <a:rPr lang="en-US" sz="1200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print(</a:t>
            </a:r>
            <a:r>
              <a:rPr lang="en-US" sz="12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df_bow</a:t>
            </a:r>
            <a:r>
              <a:rPr lang="en-US" sz="1200" b="1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sz="1200" b="1" dirty="0" smtClean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9299076" y="2419580"/>
            <a:ext cx="2753222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>
                <a:lumMod val="9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>
                    <a:lumMod val="95000"/>
                  </a:schemeClr>
                </a:solidFill>
                <a:latin typeface="Berlin Sans FB Demi" panose="020E0802020502020306" pitchFamily="34" charset="0"/>
              </a:rPr>
              <a:t>Implementation</a:t>
            </a:r>
            <a:endParaRPr lang="en-US" dirty="0">
              <a:solidFill>
                <a:schemeClr val="bg1">
                  <a:lumMod val="95000"/>
                </a:schemeClr>
              </a:solidFill>
              <a:latin typeface="Berlin Sans FB Demi" panose="020E08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5884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490" y="0"/>
            <a:ext cx="1228049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6080" y="0"/>
            <a:ext cx="1257808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682240" y="0"/>
            <a:ext cx="9509760" cy="6858000"/>
          </a:xfrm>
          <a:prstGeom prst="rect">
            <a:avLst/>
          </a:prstGeom>
          <a:solidFill>
            <a:schemeClr val="bg1">
              <a:alpha val="81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i="1" dirty="0" smtClean="0">
                <a:solidFill>
                  <a:srgbClr val="FFC000"/>
                </a:solidFill>
                <a:latin typeface="+mj-lt"/>
              </a:rPr>
              <a:t> </a:t>
            </a:r>
          </a:p>
          <a:p>
            <a:pPr algn="ctr"/>
            <a:endParaRPr lang="en-US" sz="6000" b="1" dirty="0" smtClean="0">
              <a:solidFill>
                <a:srgbClr val="FFFF00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9100" y="810250"/>
            <a:ext cx="2086661" cy="60939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Label encoding</a:t>
            </a:r>
          </a:p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One Hot Encoding</a:t>
            </a:r>
          </a:p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Term Doc Incidence Matrix</a:t>
            </a:r>
            <a:endParaRPr lang="en-US" sz="1200" b="1" dirty="0" smtClean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Bag Of Words</a:t>
            </a:r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TF-IDF</a:t>
            </a:r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Word </a:t>
            </a:r>
            <a:r>
              <a:rPr lang="en-US" sz="1200" b="1" dirty="0" err="1">
                <a:solidFill>
                  <a:schemeClr val="bg2">
                    <a:lumMod val="50000"/>
                  </a:schemeClr>
                </a:solidFill>
              </a:rPr>
              <a:t>E</a:t>
            </a:r>
            <a:r>
              <a:rPr lang="en-US" sz="1200" b="1" dirty="0" err="1" smtClean="0">
                <a:solidFill>
                  <a:schemeClr val="bg2">
                    <a:lumMod val="50000"/>
                  </a:schemeClr>
                </a:solidFill>
              </a:rPr>
              <a:t>mbeddings</a:t>
            </a:r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 </a:t>
            </a:r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K-Nearest Neighbors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Naïve Bayes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K-Means Clustering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Hierarchical Clustering</a:t>
            </a: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Principal Component Analysis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DBSCAN</a:t>
            </a: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Q-Learning</a:t>
            </a: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Deep Q-learning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Policy Gradient Method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1">
                  <a:lumMod val="50000"/>
                </a:schemeClr>
              </a:solidFill>
            </a:endParaRPr>
          </a:p>
          <a:p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3678256" y="2087523"/>
            <a:ext cx="7891310" cy="3539430"/>
          </a:xfrm>
          <a:prstGeom prst="rect">
            <a:avLst/>
          </a:prstGeom>
          <a:noFill/>
          <a:ln w="57150">
            <a:noFill/>
          </a:ln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3200" dirty="0" smtClean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Does not capture </a:t>
            </a:r>
            <a:r>
              <a:rPr lang="en-US" sz="3200" b="1" dirty="0" smtClean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semantic distance </a:t>
            </a:r>
            <a:r>
              <a:rPr lang="en-US" sz="3200" dirty="0" smtClean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between words 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endParaRPr lang="en-US" sz="3200" dirty="0">
              <a:ln w="0"/>
              <a:solidFill>
                <a:schemeClr val="bg2">
                  <a:lumMod val="1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mic Sans MS" panose="030F0702030302020204" pitchFamily="66" charset="0"/>
            </a:endParaRP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3200" dirty="0" smtClean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Does </a:t>
            </a:r>
            <a:r>
              <a:rPr lang="en-US" sz="3200" b="1" dirty="0" smtClean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not preserve </a:t>
            </a:r>
            <a:r>
              <a:rPr lang="en-US" sz="3200" dirty="0" smtClean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word order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endParaRPr lang="en-US" sz="3200" dirty="0">
              <a:ln w="0"/>
              <a:solidFill>
                <a:schemeClr val="bg2">
                  <a:lumMod val="1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mic Sans MS" panose="030F0702030302020204" pitchFamily="66" charset="0"/>
            </a:endParaRP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3200" b="1" dirty="0" smtClean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Inefficient </a:t>
            </a:r>
            <a:r>
              <a:rPr lang="en-US" sz="3200" dirty="0" smtClean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when it has mores zeros in the object(vector) .</a:t>
            </a:r>
            <a:r>
              <a:rPr lang="en-US" sz="3200" dirty="0" err="1" smtClean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ie</a:t>
            </a:r>
            <a:r>
              <a:rPr lang="en-US" sz="3200" dirty="0" smtClean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 </a:t>
            </a:r>
            <a:r>
              <a:rPr lang="en-US" sz="3200" b="1" dirty="0" err="1" smtClean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sparcity</a:t>
            </a:r>
            <a:endParaRPr lang="en-US" b="1" dirty="0" smtClean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mic Sans MS" panose="030F0702030302020204" pitchFamily="66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808747" y="1194855"/>
            <a:ext cx="3256746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>
                <a:lumMod val="9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>
                    <a:lumMod val="95000"/>
                  </a:schemeClr>
                </a:solidFill>
                <a:latin typeface="Berlin Sans FB Demi" panose="020E0802020502020306" pitchFamily="34" charset="0"/>
              </a:rPr>
              <a:t>Limitations of BOW model</a:t>
            </a:r>
            <a:endParaRPr lang="en-US" dirty="0">
              <a:solidFill>
                <a:schemeClr val="bg1">
                  <a:lumMod val="95000"/>
                </a:schemeClr>
              </a:solidFill>
              <a:latin typeface="Berlin Sans FB Demi" panose="020E08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8820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490" y="0"/>
            <a:ext cx="1228049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6080" y="0"/>
            <a:ext cx="1257808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682240" y="0"/>
            <a:ext cx="9509760" cy="6858000"/>
          </a:xfrm>
          <a:prstGeom prst="rect">
            <a:avLst/>
          </a:prstGeom>
          <a:solidFill>
            <a:schemeClr val="bg1">
              <a:alpha val="8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i="1" dirty="0" smtClean="0">
                <a:solidFill>
                  <a:srgbClr val="FFC000"/>
                </a:solidFill>
                <a:latin typeface="+mj-lt"/>
              </a:rPr>
              <a:t> </a:t>
            </a:r>
          </a:p>
          <a:p>
            <a:pPr algn="ctr"/>
            <a:endParaRPr lang="en-US" sz="6000" b="1" dirty="0" smtClean="0">
              <a:solidFill>
                <a:srgbClr val="FFFF00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9100" y="810250"/>
            <a:ext cx="2086661" cy="60939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Label encoding</a:t>
            </a:r>
          </a:p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One Hot Encoding</a:t>
            </a:r>
          </a:p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Term Doc Incidence Matrix</a:t>
            </a:r>
            <a:endParaRPr lang="en-US" sz="1200" b="1" dirty="0" smtClean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Bag Of Words</a:t>
            </a:r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TF-IDF</a:t>
            </a:r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Word </a:t>
            </a:r>
            <a:r>
              <a:rPr lang="en-US" sz="1200" b="1" dirty="0" err="1">
                <a:solidFill>
                  <a:schemeClr val="bg2">
                    <a:lumMod val="50000"/>
                  </a:schemeClr>
                </a:solidFill>
              </a:rPr>
              <a:t>E</a:t>
            </a:r>
            <a:r>
              <a:rPr lang="en-US" sz="1200" b="1" dirty="0" err="1" smtClean="0">
                <a:solidFill>
                  <a:schemeClr val="bg2">
                    <a:lumMod val="50000"/>
                  </a:schemeClr>
                </a:solidFill>
              </a:rPr>
              <a:t>mbeddings</a:t>
            </a:r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 </a:t>
            </a:r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K-Nearest Neighbors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Naïve Bayes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K-Means Clustering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Hierarchical Clustering</a:t>
            </a: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Principal Component Analysis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DBSCAN</a:t>
            </a: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Q-Learning</a:t>
            </a: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Deep Q-learning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Policy Gradient Method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1">
                  <a:lumMod val="50000"/>
                </a:schemeClr>
              </a:solidFill>
            </a:endParaRPr>
          </a:p>
          <a:p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3551325" y="2159915"/>
            <a:ext cx="7771590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600" dirty="0" smtClean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Eras Bold ITC" panose="020B0907030504020204" pitchFamily="34" charset="0"/>
              </a:rPr>
              <a:t>T</a:t>
            </a:r>
            <a:r>
              <a:rPr lang="en-US" sz="166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Eras Bold ITC" panose="020B0907030504020204" pitchFamily="34" charset="0"/>
              </a:rPr>
              <a:t>F-I</a:t>
            </a:r>
            <a:r>
              <a:rPr lang="en-US" sz="16600" dirty="0" smtClean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Eras Bold ITC" panose="020B0907030504020204" pitchFamily="34" charset="0"/>
              </a:rPr>
              <a:t>D</a:t>
            </a:r>
            <a:r>
              <a:rPr lang="en-US" sz="166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Eras Bold ITC" panose="020B0907030504020204" pitchFamily="34" charset="0"/>
              </a:rPr>
              <a:t>F</a:t>
            </a:r>
            <a:endParaRPr lang="en-US" sz="16600" dirty="0" smtClean="0">
              <a:ln w="0"/>
              <a:solidFill>
                <a:schemeClr val="bg2">
                  <a:lumMod val="1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mic Sans MS" panose="030F0702030302020204" pitchFamily="66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99986" y="4806793"/>
            <a:ext cx="3874268" cy="523220"/>
          </a:xfrm>
          <a:prstGeom prst="rect">
            <a:avLst/>
          </a:prstGeom>
          <a:solidFill>
            <a:schemeClr val="tx1"/>
          </a:solidFill>
          <a:ln>
            <a:solidFill>
              <a:schemeClr val="bg1">
                <a:lumMod val="9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>
                <a:solidFill>
                  <a:schemeClr val="bg1">
                    <a:lumMod val="95000"/>
                  </a:schemeClr>
                </a:solidFill>
                <a:latin typeface="Berlin Sans FB Demi" panose="020E0802020502020306" pitchFamily="34" charset="0"/>
              </a:rPr>
              <a:t>TERM FREQUENCY-INVERSE DOCUMENT FREQUENCY</a:t>
            </a:r>
            <a:endParaRPr lang="en-US" sz="1400" dirty="0">
              <a:solidFill>
                <a:schemeClr val="bg1">
                  <a:lumMod val="95000"/>
                </a:schemeClr>
              </a:solidFill>
              <a:latin typeface="Berlin Sans FB Demi" panose="020E08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08475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490" y="0"/>
            <a:ext cx="1228049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6080" y="0"/>
            <a:ext cx="1257808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682240" y="0"/>
            <a:ext cx="9509760" cy="6858000"/>
          </a:xfrm>
          <a:prstGeom prst="rect">
            <a:avLst/>
          </a:prstGeom>
          <a:solidFill>
            <a:schemeClr val="bg1">
              <a:alpha val="81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i="1" dirty="0" smtClean="0">
                <a:solidFill>
                  <a:srgbClr val="FFC000"/>
                </a:solidFill>
                <a:latin typeface="+mj-lt"/>
              </a:rPr>
              <a:t> </a:t>
            </a:r>
          </a:p>
          <a:p>
            <a:pPr algn="ctr"/>
            <a:endParaRPr lang="en-US" sz="6000" b="1" dirty="0" smtClean="0">
              <a:solidFill>
                <a:srgbClr val="FFFF00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9100" y="810250"/>
            <a:ext cx="2086661" cy="60939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Label encoding</a:t>
            </a:r>
          </a:p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One Hot Encoding</a:t>
            </a:r>
          </a:p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Term Doc Incidence Matrix</a:t>
            </a:r>
            <a:endParaRPr lang="en-US" sz="1200" b="1" dirty="0" smtClean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Bag Of Words</a:t>
            </a:r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TF-IDF</a:t>
            </a:r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Word </a:t>
            </a:r>
            <a:r>
              <a:rPr lang="en-US" sz="1200" b="1" dirty="0" err="1">
                <a:solidFill>
                  <a:schemeClr val="bg2">
                    <a:lumMod val="50000"/>
                  </a:schemeClr>
                </a:solidFill>
              </a:rPr>
              <a:t>E</a:t>
            </a:r>
            <a:r>
              <a:rPr lang="en-US" sz="1200" b="1" dirty="0" err="1" smtClean="0">
                <a:solidFill>
                  <a:schemeClr val="bg2">
                    <a:lumMod val="50000"/>
                  </a:schemeClr>
                </a:solidFill>
              </a:rPr>
              <a:t>mbeddings</a:t>
            </a:r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 </a:t>
            </a:r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K-Nearest Neighbors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Naïve Bayes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K-Means Clustering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Hierarchical Clustering</a:t>
            </a: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Principal Component Analysis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DBSCAN</a:t>
            </a: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Q-Learning</a:t>
            </a: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Deep Q-learning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Policy Gradient Method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1">
                  <a:lumMod val="50000"/>
                </a:schemeClr>
              </a:solidFill>
            </a:endParaRPr>
          </a:p>
          <a:p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3491465" y="1348859"/>
            <a:ext cx="7891310" cy="5016758"/>
          </a:xfrm>
          <a:prstGeom prst="rect">
            <a:avLst/>
          </a:prstGeom>
          <a:noFill/>
          <a:ln w="57150">
            <a:noFill/>
          </a:ln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3200" dirty="0" smtClean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Document frequency(</a:t>
            </a:r>
            <a:r>
              <a:rPr lang="en-US" sz="3200" dirty="0" err="1" smtClean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df</a:t>
            </a:r>
            <a:r>
              <a:rPr lang="en-US" sz="3200" dirty="0" smtClean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) </a:t>
            </a:r>
            <a:r>
              <a:rPr lang="en-US" sz="3200" dirty="0" smtClean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: number of documents that contain a give word </a:t>
            </a:r>
            <a:r>
              <a:rPr lang="en-US" sz="3200" dirty="0" err="1" smtClean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i.e</a:t>
            </a:r>
            <a:r>
              <a:rPr lang="en-US" sz="3200" dirty="0" smtClean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 </a:t>
            </a:r>
            <a:r>
              <a:rPr lang="en-US" sz="3200" dirty="0" err="1" smtClean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df</a:t>
            </a:r>
            <a:r>
              <a:rPr lang="en-US" sz="3200" dirty="0" smtClean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(w)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endParaRPr lang="en-US" sz="3200" dirty="0">
              <a:ln w="0"/>
              <a:solidFill>
                <a:schemeClr val="bg2">
                  <a:lumMod val="1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mic Sans MS" panose="030F0702030302020204" pitchFamily="66" charset="0"/>
            </a:endParaRP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3200" dirty="0" smtClean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Inverse document frequency(</a:t>
            </a:r>
            <a:r>
              <a:rPr lang="en-US" sz="3200" dirty="0" err="1" smtClean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idf</a:t>
            </a:r>
            <a:r>
              <a:rPr lang="en-US" sz="3200" dirty="0" smtClean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) : </a:t>
            </a:r>
            <a:r>
              <a:rPr lang="en-US" sz="32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number of docs ÷ </a:t>
            </a:r>
            <a:r>
              <a:rPr lang="en-US" sz="32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df</a:t>
            </a:r>
            <a:r>
              <a:rPr lang="en-US" sz="32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 </a:t>
            </a:r>
            <a:r>
              <a:rPr lang="en-US" sz="32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i.e</a:t>
            </a:r>
            <a:r>
              <a:rPr lang="en-US" sz="32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 </a:t>
            </a:r>
          </a:p>
          <a:p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 </a:t>
            </a:r>
            <a:r>
              <a:rPr lang="en-US" sz="32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   </a:t>
            </a:r>
            <a:endParaRPr lang="en-US" sz="3200" b="1" dirty="0" smtClean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mic Sans MS" panose="030F0702030302020204" pitchFamily="66" charset="0"/>
            </a:endParaRPr>
          </a:p>
          <a:p>
            <a:pPr marL="457200" indent="-457200">
              <a:buFont typeface="Wingdings" panose="05000000000000000000" pitchFamily="2" charset="2"/>
              <a:buChar char="ü"/>
            </a:pPr>
            <a:endParaRPr lang="en-US" sz="3200" dirty="0">
              <a:ln w="0"/>
              <a:solidFill>
                <a:schemeClr val="bg2">
                  <a:lumMod val="1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mic Sans MS" panose="030F0702030302020204" pitchFamily="66" charset="0"/>
            </a:endParaRP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3200" dirty="0" smtClean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Term frequency(td(</a:t>
            </a:r>
            <a:r>
              <a:rPr lang="en-US" sz="3200" dirty="0" err="1" smtClean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w,d</a:t>
            </a:r>
            <a:r>
              <a:rPr lang="en-US" sz="3200" dirty="0" smtClean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) </a:t>
            </a:r>
            <a:r>
              <a:rPr lang="en-US" sz="3200" dirty="0" smtClean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: fraction of (</a:t>
            </a:r>
            <a:r>
              <a:rPr lang="en-US" sz="3200" b="1" dirty="0" smtClean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w</a:t>
            </a:r>
            <a:r>
              <a:rPr lang="en-US" sz="3200" dirty="0" smtClean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) in document  (</a:t>
            </a:r>
            <a:r>
              <a:rPr lang="en-US" sz="3200" b="1" dirty="0" smtClean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d</a:t>
            </a:r>
            <a:r>
              <a:rPr lang="en-US" sz="3200" dirty="0" smtClean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)</a:t>
            </a:r>
            <a:endParaRPr lang="en-US" b="1" dirty="0" smtClean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mic Sans MS" panose="030F0702030302020204" pitchFamily="66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731745" y="489764"/>
            <a:ext cx="3256746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>
                <a:lumMod val="9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>
                    <a:lumMod val="95000"/>
                  </a:schemeClr>
                </a:solidFill>
                <a:latin typeface="Berlin Sans FB Demi" panose="020E0802020502020306" pitchFamily="34" charset="0"/>
              </a:rPr>
              <a:t>KEY DEFINATIONS</a:t>
            </a:r>
            <a:endParaRPr lang="en-US" dirty="0">
              <a:solidFill>
                <a:schemeClr val="bg1">
                  <a:lumMod val="95000"/>
                </a:schemeClr>
              </a:solidFill>
              <a:latin typeface="Berlin Sans FB Demi" panose="020E0802020502020306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3684771" y="4417714"/>
                <a:ext cx="6965681" cy="776879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bg1">
                    <a:lumMod val="9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b="1" dirty="0" smtClean="0">
                    <a:ln w="0"/>
                    <a:solidFill>
                      <a:schemeClr val="bg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omic Sans MS" panose="030F0702030302020204" pitchFamily="66" charset="0"/>
                  </a:rPr>
                  <a:t>idf(w) =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800" b="1" i="1" smtClean="0">
                            <a:ln w="0"/>
                            <a:solidFill>
                              <a:schemeClr val="bg1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sz="2800" b="1" i="0" smtClean="0">
                            <a:ln w="0"/>
                            <a:solidFill>
                              <a:schemeClr val="bg1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𝐥𝐨𝐠</m:t>
                        </m:r>
                      </m:fName>
                      <m:e>
                        <m:r>
                          <a:rPr lang="en-US" sz="2800" b="1" i="1" smtClean="0">
                            <a:ln w="0"/>
                            <a:solidFill>
                              <a:schemeClr val="bg1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( </m:t>
                        </m:r>
                        <m:f>
                          <m:fPr>
                            <m:ctrlPr>
                              <a:rPr lang="en-US" sz="2800" b="1" i="1" smtClean="0">
                                <a:ln w="0"/>
                                <a:solidFill>
                                  <a:schemeClr val="bg1"/>
                                </a:solidFill>
                                <a:effectLst>
                                  <a:outerShdw blurRad="38100" dist="19050" dir="2700000" algn="tl" rotWithShape="0">
                                    <a:schemeClr val="dk1">
                                      <a:alpha val="40000"/>
                                    </a:scheme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800" b="1" i="1" smtClean="0">
                                <a:ln w="0"/>
                                <a:solidFill>
                                  <a:schemeClr val="bg1"/>
                                </a:solidFill>
                                <a:effectLst>
                                  <a:outerShdw blurRad="38100" dist="19050" dir="2700000" algn="tl" rotWithShape="0">
                                    <a:schemeClr val="dk1">
                                      <a:alpha val="40000"/>
                                    </a:scheme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𝒏𝒖𝒎</m:t>
                            </m:r>
                            <m:r>
                              <a:rPr lang="en-US" sz="2800" b="1" i="1" smtClean="0">
                                <a:ln w="0"/>
                                <a:solidFill>
                                  <a:schemeClr val="bg1"/>
                                </a:solidFill>
                                <a:effectLst>
                                  <a:outerShdw blurRad="38100" dist="19050" dir="2700000" algn="tl" rotWithShape="0">
                                    <a:schemeClr val="dk1">
                                      <a:alpha val="40000"/>
                                    </a:scheme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800" b="1" i="1" smtClean="0">
                                <a:ln w="0"/>
                                <a:solidFill>
                                  <a:schemeClr val="bg1"/>
                                </a:solidFill>
                                <a:effectLst>
                                  <a:outerShdw blurRad="38100" dist="19050" dir="2700000" algn="tl" rotWithShape="0">
                                    <a:schemeClr val="dk1">
                                      <a:alpha val="40000"/>
                                    </a:scheme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𝒐𝒇</m:t>
                            </m:r>
                            <m:r>
                              <a:rPr lang="en-US" sz="2800" b="1" i="1" smtClean="0">
                                <a:ln w="0"/>
                                <a:solidFill>
                                  <a:schemeClr val="bg1"/>
                                </a:solidFill>
                                <a:effectLst>
                                  <a:outerShdw blurRad="38100" dist="19050" dir="2700000" algn="tl" rotWithShape="0">
                                    <a:schemeClr val="dk1">
                                      <a:alpha val="40000"/>
                                    </a:scheme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800" b="1" i="1" smtClean="0">
                                <a:ln w="0"/>
                                <a:solidFill>
                                  <a:schemeClr val="bg1"/>
                                </a:solidFill>
                                <a:effectLst>
                                  <a:outerShdw blurRad="38100" dist="19050" dir="2700000" algn="tl" rotWithShape="0">
                                    <a:schemeClr val="dk1">
                                      <a:alpha val="40000"/>
                                    </a:scheme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𝒅𝒐𝒄𝒔</m:t>
                            </m:r>
                          </m:num>
                          <m:den>
                            <m:r>
                              <a:rPr lang="en-US" sz="2800" b="1" i="1" smtClean="0">
                                <a:ln w="0"/>
                                <a:solidFill>
                                  <a:schemeClr val="bg1"/>
                                </a:solidFill>
                                <a:effectLst>
                                  <a:outerShdw blurRad="38100" dist="19050" dir="2700000" algn="tl" rotWithShape="0">
                                    <a:schemeClr val="dk1">
                                      <a:alpha val="40000"/>
                                    </a:scheme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𝒅𝒇</m:t>
                            </m:r>
                            <m:d>
                              <m:dPr>
                                <m:ctrlPr>
                                  <a:rPr lang="en-US" sz="2800" b="1" i="1" smtClean="0">
                                    <a:ln w="0"/>
                                    <a:solidFill>
                                      <a:schemeClr val="bg1"/>
                                    </a:solidFill>
                                    <a:effectLst>
                                      <a:outerShdw blurRad="38100" dist="19050" dir="2700000" algn="tl" rotWithShape="0">
                                        <a:schemeClr val="dk1">
                                          <a:alpha val="40000"/>
                                        </a:schemeClr>
                                      </a:outerShdw>
                                    </a:effectLst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800" b="1" i="1" smtClean="0">
                                    <a:ln w="0"/>
                                    <a:solidFill>
                                      <a:schemeClr val="bg1"/>
                                    </a:solidFill>
                                    <a:effectLst>
                                      <a:outerShdw blurRad="38100" dist="19050" dir="2700000" algn="tl" rotWithShape="0">
                                        <a:schemeClr val="dk1">
                                          <a:alpha val="40000"/>
                                        </a:schemeClr>
                                      </a:outerShdw>
                                    </a:effectLst>
                                    <a:latin typeface="Cambria Math" panose="02040503050406030204" pitchFamily="18" charset="0"/>
                                  </a:rPr>
                                  <m:t>𝒘</m:t>
                                </m:r>
                              </m:e>
                            </m:d>
                          </m:den>
                        </m:f>
                        <m:r>
                          <a:rPr lang="en-US" sz="2800" b="1" i="1" smtClean="0">
                            <a:ln w="0"/>
                            <a:solidFill>
                              <a:schemeClr val="bg1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 )</m:t>
                        </m:r>
                      </m:e>
                    </m:func>
                  </m:oMath>
                </a14:m>
                <a:endParaRPr lang="en-US" sz="2400" b="1" dirty="0" smtClean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mic Sans MS" panose="030F0702030302020204" pitchFamily="66" charset="0"/>
                </a:endParaRPr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4771" y="4417714"/>
                <a:ext cx="6965681" cy="776879"/>
              </a:xfrm>
              <a:prstGeom prst="rect">
                <a:avLst/>
              </a:prstGeom>
              <a:blipFill rotWithShape="0">
                <a:blip r:embed="rId4"/>
                <a:stretch>
                  <a:fillRect b="-6202"/>
                </a:stretch>
              </a:blipFill>
              <a:ln>
                <a:solidFill>
                  <a:schemeClr val="bg1">
                    <a:lumMod val="9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6414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490" y="0"/>
            <a:ext cx="1228049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6080" y="0"/>
            <a:ext cx="1257808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682240" y="0"/>
            <a:ext cx="9509760" cy="6858000"/>
          </a:xfrm>
          <a:prstGeom prst="rect">
            <a:avLst/>
          </a:prstGeom>
          <a:solidFill>
            <a:schemeClr val="bg1">
              <a:alpha val="81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i="1" dirty="0" smtClean="0">
                <a:solidFill>
                  <a:srgbClr val="FFC000"/>
                </a:solidFill>
                <a:latin typeface="+mj-lt"/>
              </a:rPr>
              <a:t> </a:t>
            </a:r>
          </a:p>
          <a:p>
            <a:pPr algn="ctr"/>
            <a:endParaRPr lang="en-US" sz="6000" b="1" dirty="0" smtClean="0">
              <a:solidFill>
                <a:srgbClr val="FFFF00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9100" y="810250"/>
            <a:ext cx="2086661" cy="60939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Label encoding</a:t>
            </a:r>
          </a:p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One Hot Encoding</a:t>
            </a:r>
          </a:p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Term Doc Incidence Matrix</a:t>
            </a:r>
            <a:endParaRPr lang="en-US" sz="1200" b="1" dirty="0" smtClean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Bag Of Words</a:t>
            </a:r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TF-IDF</a:t>
            </a:r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Word </a:t>
            </a:r>
            <a:r>
              <a:rPr lang="en-US" sz="1200" b="1" dirty="0" err="1">
                <a:solidFill>
                  <a:schemeClr val="bg2">
                    <a:lumMod val="50000"/>
                  </a:schemeClr>
                </a:solidFill>
              </a:rPr>
              <a:t>E</a:t>
            </a:r>
            <a:r>
              <a:rPr lang="en-US" sz="1200" b="1" dirty="0" err="1" smtClean="0">
                <a:solidFill>
                  <a:schemeClr val="bg2">
                    <a:lumMod val="50000"/>
                  </a:schemeClr>
                </a:solidFill>
              </a:rPr>
              <a:t>mbeddings</a:t>
            </a:r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 </a:t>
            </a:r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K-Nearest Neighbors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Naïve Bayes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K-Means Clustering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Hierarchical Clustering</a:t>
            </a: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Principal Component Analysis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DBSCAN</a:t>
            </a: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Q-Learning</a:t>
            </a: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Deep Q-learning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Policy Gradient Method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1">
                  <a:lumMod val="50000"/>
                </a:schemeClr>
              </a:solidFill>
            </a:endParaRPr>
          </a:p>
          <a:p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3312496" y="2265328"/>
            <a:ext cx="8249248" cy="1015663"/>
          </a:xfrm>
          <a:prstGeom prst="rect">
            <a:avLst/>
          </a:prstGeom>
          <a:noFill/>
          <a:ln w="571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6000" dirty="0" smtClean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 </a:t>
            </a:r>
            <a:endParaRPr lang="en-US" sz="4000" dirty="0" smtClean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mic Sans MS" panose="030F0702030302020204" pitchFamily="66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060509" y="1088977"/>
            <a:ext cx="2753222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>
                <a:lumMod val="9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>
                    <a:lumMod val="95000"/>
                  </a:schemeClr>
                </a:solidFill>
                <a:latin typeface="Berlin Sans FB Demi" panose="020E0802020502020306" pitchFamily="34" charset="0"/>
              </a:rPr>
              <a:t>Obtain </a:t>
            </a:r>
            <a:r>
              <a:rPr lang="en-US" dirty="0" err="1" smtClean="0">
                <a:solidFill>
                  <a:schemeClr val="bg1">
                    <a:lumMod val="95000"/>
                  </a:schemeClr>
                </a:solidFill>
                <a:latin typeface="Berlin Sans FB Demi" panose="020E0802020502020306" pitchFamily="34" charset="0"/>
              </a:rPr>
              <a:t>tf-idf</a:t>
            </a:r>
            <a:endParaRPr lang="en-US" dirty="0">
              <a:solidFill>
                <a:schemeClr val="bg1">
                  <a:lumMod val="95000"/>
                </a:schemeClr>
              </a:solidFill>
              <a:latin typeface="Berlin Sans FB Demi" panose="020E0802020502020306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3966360" y="2547286"/>
                <a:ext cx="6941520" cy="2000548"/>
              </a:xfrm>
              <a:prstGeom prst="rect">
                <a:avLst/>
              </a:prstGeom>
              <a:solidFill>
                <a:schemeClr val="tx1"/>
              </a:solidFill>
              <a:ln w="7620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endParaRPr lang="en-US" sz="2400" b="1" dirty="0" smtClean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mic Sans MS" panose="030F0702030302020204" pitchFamily="66" charset="0"/>
                </a:endParaRPr>
              </a:p>
              <a:p>
                <a:pPr algn="ctr"/>
                <a:endParaRPr lang="en-US" sz="2400" b="1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mic Sans MS" panose="030F0702030302020204" pitchFamily="66" charset="0"/>
                </a:endParaRPr>
              </a:p>
              <a:p>
                <a:pPr algn="ctr"/>
                <a:r>
                  <a:rPr lang="en-US" sz="2400" b="1" dirty="0" err="1" smtClean="0">
                    <a:ln w="0"/>
                    <a:solidFill>
                      <a:schemeClr val="bg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omic Sans MS" panose="030F0702030302020204" pitchFamily="66" charset="0"/>
                  </a:rPr>
                  <a:t>Tf-idf</a:t>
                </a:r>
                <a:r>
                  <a:rPr lang="en-US" sz="2400" b="1" dirty="0" smtClean="0">
                    <a:ln w="0"/>
                    <a:solidFill>
                      <a:schemeClr val="bg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omic Sans MS" panose="030F0702030302020204" pitchFamily="66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ln w="0"/>
                            <a:solidFill>
                              <a:schemeClr val="bg1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ln w="0"/>
                            <a:solidFill>
                              <a:schemeClr val="bg1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en-US" sz="2400" b="1" i="1" smtClean="0">
                            <a:ln w="0"/>
                            <a:solidFill>
                              <a:schemeClr val="bg1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sz="2400" b="1" dirty="0" smtClean="0">
                    <a:ln w="0"/>
                    <a:solidFill>
                      <a:schemeClr val="bg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omic Sans MS" panose="030F0702030302020204" pitchFamily="66" charset="0"/>
                  </a:rPr>
                  <a:t>) = </a:t>
                </a:r>
                <a:r>
                  <a:rPr lang="en-US" sz="2400" b="1" dirty="0" err="1" smtClean="0">
                    <a:ln w="0"/>
                    <a:solidFill>
                      <a:schemeClr val="bg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omic Sans MS" panose="030F0702030302020204" pitchFamily="66" charset="0"/>
                  </a:rPr>
                  <a:t>tf</a:t>
                </a:r>
                <a:r>
                  <a:rPr lang="en-US" sz="2400" b="1" dirty="0" smtClean="0">
                    <a:ln w="0"/>
                    <a:solidFill>
                      <a:schemeClr val="bg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omic Sans MS" panose="030F0702030302020204" pitchFamily="66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ln w="0"/>
                            <a:solidFill>
                              <a:schemeClr val="bg1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ln w="0"/>
                            <a:solidFill>
                              <a:schemeClr val="bg1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en-US" sz="2400" b="1" i="1" smtClean="0">
                            <a:ln w="0"/>
                            <a:solidFill>
                              <a:schemeClr val="bg1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sz="2400" b="1" dirty="0" smtClean="0">
                    <a:ln w="0"/>
                    <a:solidFill>
                      <a:schemeClr val="bg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omic Sans MS" panose="030F0702030302020204" pitchFamily="66" charset="0"/>
                  </a:rPr>
                  <a:t>,d) * </a:t>
                </a:r>
                <a:r>
                  <a:rPr lang="en-US" sz="2400" b="1" dirty="0" err="1" smtClean="0">
                    <a:ln w="0"/>
                    <a:solidFill>
                      <a:schemeClr val="bg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omic Sans MS" panose="030F0702030302020204" pitchFamily="66" charset="0"/>
                  </a:rPr>
                  <a:t>idf</a:t>
                </a:r>
                <a:r>
                  <a:rPr lang="en-US" sz="2400" b="1" dirty="0" smtClean="0">
                    <a:ln w="0"/>
                    <a:solidFill>
                      <a:schemeClr val="bg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omic Sans MS" panose="030F0702030302020204" pitchFamily="66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ln w="0"/>
                            <a:solidFill>
                              <a:schemeClr val="bg1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ln w="0"/>
                            <a:solidFill>
                              <a:schemeClr val="bg1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en-US" sz="2400" b="1" i="1" smtClean="0">
                            <a:ln w="0"/>
                            <a:solidFill>
                              <a:schemeClr val="bg1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sz="2400" b="1" dirty="0" smtClean="0">
                    <a:ln w="0"/>
                    <a:solidFill>
                      <a:schemeClr val="bg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omic Sans MS" panose="030F0702030302020204" pitchFamily="66" charset="0"/>
                  </a:rPr>
                  <a:t>)</a:t>
                </a:r>
              </a:p>
              <a:p>
                <a:pPr algn="ctr"/>
                <a:endParaRPr lang="en-US" sz="2400" b="1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mic Sans MS" panose="030F0702030302020204" pitchFamily="66" charset="0"/>
                </a:endParaRPr>
              </a:p>
              <a:p>
                <a:pPr algn="ctr"/>
                <a:endParaRPr lang="en-US" sz="2800" b="1" dirty="0" smtClean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mic Sans MS" panose="030F0702030302020204" pitchFamily="66" charset="0"/>
                </a:endParaRPr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6360" y="2547286"/>
                <a:ext cx="6941520" cy="2000548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  <a:ln w="7620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88258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490" y="0"/>
            <a:ext cx="1228049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6080" y="0"/>
            <a:ext cx="1257808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682240" y="0"/>
            <a:ext cx="9509760" cy="6858000"/>
          </a:xfrm>
          <a:prstGeom prst="rect">
            <a:avLst/>
          </a:prstGeom>
          <a:solidFill>
            <a:schemeClr val="bg1">
              <a:alpha val="8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i="1" dirty="0" smtClean="0">
                <a:solidFill>
                  <a:srgbClr val="FFC000"/>
                </a:solidFill>
                <a:latin typeface="+mj-lt"/>
              </a:rPr>
              <a:t> </a:t>
            </a:r>
          </a:p>
          <a:p>
            <a:pPr algn="ctr"/>
            <a:endParaRPr lang="en-US" sz="6000" b="1" dirty="0" smtClean="0">
              <a:solidFill>
                <a:srgbClr val="FFFF00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9100" y="810250"/>
            <a:ext cx="2086661" cy="60939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Label encoding</a:t>
            </a:r>
          </a:p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One Hot Encoding</a:t>
            </a:r>
          </a:p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Term Doc Incidence Matrix</a:t>
            </a:r>
            <a:endParaRPr lang="en-US" sz="1200" b="1" dirty="0" smtClean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Bag Of Words</a:t>
            </a:r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TF-IDF</a:t>
            </a:r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Word </a:t>
            </a:r>
            <a:r>
              <a:rPr lang="en-US" sz="1200" b="1" dirty="0" err="1">
                <a:solidFill>
                  <a:schemeClr val="bg2">
                    <a:lumMod val="50000"/>
                  </a:schemeClr>
                </a:solidFill>
              </a:rPr>
              <a:t>E</a:t>
            </a:r>
            <a:r>
              <a:rPr lang="en-US" sz="1200" b="1" dirty="0" err="1" smtClean="0">
                <a:solidFill>
                  <a:schemeClr val="bg2">
                    <a:lumMod val="50000"/>
                  </a:schemeClr>
                </a:solidFill>
              </a:rPr>
              <a:t>mbeddings</a:t>
            </a:r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 </a:t>
            </a:r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K-Nearest Neighbors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Naïve Bayes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K-Means Clustering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Hierarchical Clustering</a:t>
            </a: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Principal Component Analysis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DBSCAN</a:t>
            </a: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Q-Learning</a:t>
            </a: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Deep Q-learning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Policy Gradient Method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1">
                  <a:lumMod val="50000"/>
                </a:schemeClr>
              </a:solidFill>
            </a:endParaRPr>
          </a:p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2974206" y="868986"/>
            <a:ext cx="8691613" cy="866274"/>
            <a:chOff x="3898233" y="868986"/>
            <a:chExt cx="7392202" cy="866274"/>
          </a:xfrm>
        </p:grpSpPr>
        <p:sp>
          <p:nvSpPr>
            <p:cNvPr id="7" name="Rounded Rectangle 6"/>
            <p:cNvSpPr/>
            <p:nvPr/>
          </p:nvSpPr>
          <p:spPr>
            <a:xfrm>
              <a:off x="3898233" y="868986"/>
              <a:ext cx="7392202" cy="866274"/>
            </a:xfrm>
            <a:prstGeom prst="round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" name="Group 9"/>
            <p:cNvGrpSpPr/>
            <p:nvPr/>
          </p:nvGrpSpPr>
          <p:grpSpPr>
            <a:xfrm>
              <a:off x="4279908" y="961260"/>
              <a:ext cx="545429" cy="151306"/>
              <a:chOff x="4235116" y="1575331"/>
              <a:chExt cx="545429" cy="151306"/>
            </a:xfrm>
          </p:grpSpPr>
          <p:sp>
            <p:nvSpPr>
              <p:cNvPr id="9" name="Oval 8"/>
              <p:cNvSpPr/>
              <p:nvPr/>
            </p:nvSpPr>
            <p:spPr>
              <a:xfrm>
                <a:off x="4235116" y="1578543"/>
                <a:ext cx="144379" cy="148094"/>
              </a:xfrm>
              <a:prstGeom prst="ellipse">
                <a:avLst/>
              </a:prstGeom>
              <a:solidFill>
                <a:srgbClr val="F13F98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Oval 10"/>
              <p:cNvSpPr/>
              <p:nvPr/>
            </p:nvSpPr>
            <p:spPr>
              <a:xfrm>
                <a:off x="4435641" y="1576937"/>
                <a:ext cx="144379" cy="148094"/>
              </a:xfrm>
              <a:prstGeom prst="ellipse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Oval 11"/>
              <p:cNvSpPr/>
              <p:nvPr/>
            </p:nvSpPr>
            <p:spPr>
              <a:xfrm>
                <a:off x="4636166" y="1575331"/>
                <a:ext cx="144379" cy="148094"/>
              </a:xfrm>
              <a:prstGeom prst="ellipse">
                <a:avLst/>
              </a:prstGeom>
              <a:solidFill>
                <a:srgbClr val="92D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13" name="TextBox 12"/>
          <p:cNvSpPr txBox="1"/>
          <p:nvPr/>
        </p:nvSpPr>
        <p:spPr>
          <a:xfrm>
            <a:off x="6483416" y="868986"/>
            <a:ext cx="24255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empus Sans ITC" panose="04020404030D07020202" pitchFamily="82" charset="0"/>
              </a:rPr>
              <a:t>Tf-idf.py</a:t>
            </a:r>
            <a:endParaRPr lang="en-US" sz="1600" dirty="0">
              <a:solidFill>
                <a:schemeClr val="bg1"/>
              </a:solidFill>
              <a:latin typeface="Tempus Sans ITC" panose="04020404030D07020202" pitchFamily="82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974206" y="1207540"/>
            <a:ext cx="8691613" cy="501675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57150">
            <a:noFill/>
          </a:ln>
        </p:spPr>
        <p:txBody>
          <a:bodyPr wrap="square" rtlCol="0">
            <a:spAutoFit/>
          </a:bodyPr>
          <a:lstStyle/>
          <a:p>
            <a:endParaRPr lang="en-US" dirty="0" smtClean="0">
              <a:ln w="0"/>
              <a:solidFill>
                <a:schemeClr val="bg2">
                  <a:lumMod val="1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mic Sans MS" panose="030F0702030302020204" pitchFamily="66" charset="0"/>
            </a:endParaRPr>
          </a:p>
          <a:p>
            <a:r>
              <a:rPr lang="en-US" sz="1200" b="1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import </a:t>
            </a:r>
            <a:r>
              <a:rPr lang="en-US" sz="12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pandas</a:t>
            </a:r>
            <a:r>
              <a:rPr lang="en-US" sz="1200" b="1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as </a:t>
            </a:r>
            <a:r>
              <a:rPr lang="en-US" sz="1200" b="1" dirty="0" err="1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pd</a:t>
            </a:r>
            <a:endParaRPr lang="en-US" sz="1200" b="1" dirty="0" smtClean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sklearn.feature_extraction.text</a:t>
            </a:r>
            <a:r>
              <a:rPr 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dirty="0" smtClean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dirty="0" err="1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CountVectorizer</a:t>
            </a:r>
            <a:endParaRPr lang="en-US" sz="1200" b="1" dirty="0" smtClean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200" b="1" dirty="0" smtClean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b="1" dirty="0" smtClean="0">
                <a:ln w="0"/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sz="1200" b="1" dirty="0">
                <a:ln w="0"/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1. Create a sample </a:t>
            </a:r>
            <a:r>
              <a:rPr lang="en-US" sz="1200" b="1" dirty="0" smtClean="0">
                <a:ln w="0"/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dataset with text reviews</a:t>
            </a:r>
          </a:p>
          <a:p>
            <a:r>
              <a:rPr lang="en-US" sz="1200" b="1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data </a:t>
            </a:r>
            <a:r>
              <a:rPr lang="en-US" sz="12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1200" b="1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{‘reviews': </a:t>
            </a:r>
            <a:r>
              <a:rPr lang="en-US" sz="1200" b="1" dirty="0" smtClean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[‘the food is good',</a:t>
            </a:r>
          </a:p>
          <a:p>
            <a:r>
              <a:rPr lang="en-US" sz="1200" b="1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dirty="0" smtClean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'New food is terrible',</a:t>
            </a:r>
          </a:p>
          <a:p>
            <a:r>
              <a:rPr lang="en-US" sz="1200" b="1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dirty="0" smtClean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‘good food and good services']</a:t>
            </a:r>
          </a:p>
          <a:p>
            <a:r>
              <a:rPr lang="en-US" sz="1200" b="1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dirty="0" smtClean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            </a:t>
            </a:r>
            <a:r>
              <a:rPr lang="en-US" sz="1200" b="1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sz="1200" b="1" dirty="0" smtClean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b="1" dirty="0" err="1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1200" b="1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1200" b="1" dirty="0" err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pd.DataFrame</a:t>
            </a:r>
            <a:r>
              <a:rPr lang="en-US" sz="12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(data</a:t>
            </a:r>
            <a:r>
              <a:rPr lang="en-US" sz="1200" b="1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sz="1200" b="1" dirty="0" smtClean="0">
              <a:ln w="0"/>
              <a:solidFill>
                <a:srgbClr val="FFFF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2. Initialize </a:t>
            </a:r>
            <a:r>
              <a:rPr lang="en-US" sz="1200" b="1" dirty="0" smtClean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the </a:t>
            </a:r>
            <a:r>
              <a:rPr lang="en-US" sz="1200" b="1" dirty="0" err="1" smtClean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tf-idf</a:t>
            </a:r>
            <a:r>
              <a:rPr lang="en-US" sz="1200" b="1" dirty="0" smtClean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dirty="0" err="1" smtClean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vectorizer</a:t>
            </a:r>
            <a:endParaRPr lang="en-US" sz="1200" b="1" dirty="0" smtClean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b="1" dirty="0" smtClean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sz="1200" b="1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stop_words</a:t>
            </a:r>
            <a:r>
              <a:rPr lang="en-US" sz="12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='</a:t>
            </a:r>
            <a:r>
              <a:rPr lang="en-US" sz="1200" b="1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english</a:t>
            </a:r>
            <a:r>
              <a:rPr lang="en-US" sz="12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 removes useless words like 'the' and 'and' to save </a:t>
            </a:r>
            <a:r>
              <a:rPr lang="en-US" sz="1200" b="1" dirty="0" smtClean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memory</a:t>
            </a:r>
          </a:p>
          <a:p>
            <a:r>
              <a:rPr lang="en-US" sz="1200" b="1" dirty="0" err="1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vectorizer</a:t>
            </a:r>
            <a:r>
              <a:rPr lang="en-US" sz="1200" b="1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12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tfidf_vectorizer</a:t>
            </a:r>
            <a:r>
              <a:rPr 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200" b="1" dirty="0" err="1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TfidfVectorizer</a:t>
            </a:r>
            <a:r>
              <a:rPr 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2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stop_words</a:t>
            </a:r>
            <a:r>
              <a:rPr 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200" b="1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sz="1200" b="1" dirty="0" err="1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english</a:t>
            </a:r>
            <a:r>
              <a:rPr lang="en-US" sz="1200" b="1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US" sz="1200" b="1" dirty="0" smtClean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200" b="1" dirty="0" smtClean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3. Fit and transform the text data </a:t>
            </a:r>
            <a:endParaRPr lang="en-US" sz="1200" b="1" dirty="0" smtClean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b="1" dirty="0" smtClean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sz="12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This calculates the TF (term frequency) and multiplies it by IDF (inverse document frequency</a:t>
            </a:r>
            <a:r>
              <a:rPr lang="en-US" sz="1200" b="1" dirty="0" smtClean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400" b="1" dirty="0" err="1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tfidf_matrix</a:t>
            </a:r>
            <a:r>
              <a:rPr lang="en-US" sz="1400" b="1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14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vectorizer.fit_transform</a:t>
            </a:r>
            <a:r>
              <a:rPr lang="en-US" sz="1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1400" b="1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400" b="1" dirty="0" smtClean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‘reviews'</a:t>
            </a:r>
            <a:r>
              <a:rPr lang="en-US" sz="1400" b="1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])</a:t>
            </a:r>
          </a:p>
          <a:p>
            <a:endParaRPr lang="en-US" sz="16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4. Convert the resulting numerical matrix into a Pandas </a:t>
            </a:r>
            <a:r>
              <a:rPr lang="en-US" sz="1200" b="1" dirty="0" err="1" smtClean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DataFrame</a:t>
            </a:r>
            <a:endParaRPr lang="en-US" sz="1200" b="1" dirty="0" smtClean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b="1" dirty="0" smtClean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sz="1200" b="1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vectorizer.get_feature_names_out</a:t>
            </a:r>
            <a:r>
              <a:rPr lang="en-US" sz="12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extracts the unique vocabulary for column </a:t>
            </a:r>
            <a:r>
              <a:rPr lang="en-US" sz="1200" b="1" dirty="0" smtClean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headers</a:t>
            </a:r>
          </a:p>
          <a:p>
            <a:endParaRPr lang="en-US" sz="1200" b="1" dirty="0" smtClean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df_tfidf</a:t>
            </a:r>
            <a:r>
              <a:rPr lang="en-US" sz="1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pd.DataFrame</a:t>
            </a:r>
            <a:r>
              <a:rPr lang="en-US" sz="1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tfidf_matrix</a:t>
            </a:r>
            <a:r>
              <a:rPr lang="en-US" sz="1000" b="1" dirty="0" err="1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.toarray</a:t>
            </a:r>
            <a:r>
              <a:rPr lang="en-US" sz="1000" b="1" dirty="0" smtClean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sz="1000" b="1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,columns=</a:t>
            </a:r>
            <a:r>
              <a:rPr lang="en-US" sz="1000" b="1" dirty="0" err="1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tfidf_vectorizer</a:t>
            </a:r>
            <a:r>
              <a:rPr lang="en-US" sz="1000" b="1" dirty="0" err="1" smtClean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.get_feature_names_out</a:t>
            </a:r>
            <a:r>
              <a:rPr lang="en-US" sz="1000" b="1" dirty="0" smtClean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sz="1000" b="1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sz="1000" b="1" dirty="0" smtClean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9299076" y="2419580"/>
            <a:ext cx="2753222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>
                <a:lumMod val="9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>
                    <a:lumMod val="95000"/>
                  </a:schemeClr>
                </a:solidFill>
                <a:latin typeface="Berlin Sans FB Demi" panose="020E0802020502020306" pitchFamily="34" charset="0"/>
              </a:rPr>
              <a:t>Implementation</a:t>
            </a:r>
            <a:endParaRPr lang="en-US" dirty="0">
              <a:solidFill>
                <a:schemeClr val="bg1">
                  <a:lumMod val="95000"/>
                </a:schemeClr>
              </a:solidFill>
              <a:latin typeface="Berlin Sans FB Demi" panose="020E08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5991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490" y="0"/>
            <a:ext cx="1228049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6080" y="0"/>
            <a:ext cx="1257808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682240" y="0"/>
            <a:ext cx="9509760" cy="6858000"/>
          </a:xfrm>
          <a:prstGeom prst="rect">
            <a:avLst/>
          </a:prstGeom>
          <a:solidFill>
            <a:schemeClr val="bg1">
              <a:alpha val="8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i="1" dirty="0" smtClean="0">
                <a:solidFill>
                  <a:srgbClr val="FFC000"/>
                </a:solidFill>
                <a:latin typeface="+mj-lt"/>
              </a:rPr>
              <a:t> </a:t>
            </a:r>
          </a:p>
          <a:p>
            <a:pPr algn="ctr"/>
            <a:endParaRPr lang="en-US" sz="6000" b="1" dirty="0" smtClean="0">
              <a:solidFill>
                <a:srgbClr val="FFFF00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9100" y="810250"/>
            <a:ext cx="2086661" cy="60939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Label encoding</a:t>
            </a:r>
          </a:p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One Hot Encoding</a:t>
            </a:r>
          </a:p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Term Doc Incidence Matrix</a:t>
            </a:r>
            <a:endParaRPr lang="en-US" sz="1200" b="1" dirty="0" smtClean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Bag Of Words</a:t>
            </a:r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TF-IDF</a:t>
            </a:r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Word </a:t>
            </a:r>
            <a:r>
              <a:rPr lang="en-US" sz="1200" b="1" dirty="0" err="1">
                <a:solidFill>
                  <a:schemeClr val="bg2">
                    <a:lumMod val="50000"/>
                  </a:schemeClr>
                </a:solidFill>
              </a:rPr>
              <a:t>E</a:t>
            </a:r>
            <a:r>
              <a:rPr lang="en-US" sz="1200" b="1" dirty="0" err="1" smtClean="0">
                <a:solidFill>
                  <a:schemeClr val="bg2">
                    <a:lumMod val="50000"/>
                  </a:schemeClr>
                </a:solidFill>
              </a:rPr>
              <a:t>mbeddings</a:t>
            </a:r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 </a:t>
            </a:r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K-Nearest Neighbors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Naïve Bayes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K-Means Clustering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Hierarchical Clustering</a:t>
            </a: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Principal Component Analysis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DBSCAN</a:t>
            </a: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Q-Learning</a:t>
            </a: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Deep Q-learning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Policy Gradient Method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1">
                  <a:lumMod val="50000"/>
                </a:schemeClr>
              </a:solidFill>
            </a:endParaRPr>
          </a:p>
          <a:p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3551325" y="2159915"/>
            <a:ext cx="7771590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800" dirty="0" smtClean="0">
                <a:ln w="0"/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Eras Bold ITC" panose="020B0907030504020204" pitchFamily="34" charset="0"/>
              </a:rPr>
              <a:t>W</a:t>
            </a:r>
            <a:r>
              <a:rPr lang="en-US" sz="88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Eras Bold ITC" panose="020B0907030504020204" pitchFamily="34" charset="0"/>
              </a:rPr>
              <a:t>ord </a:t>
            </a:r>
            <a:r>
              <a:rPr lang="en-US" sz="88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Eras Bold ITC" panose="020B0907030504020204" pitchFamily="34" charset="0"/>
              </a:rPr>
              <a:t>Emb</a:t>
            </a:r>
            <a:r>
              <a:rPr lang="en-US" sz="8800" dirty="0" err="1" smtClean="0">
                <a:ln w="0"/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Eras Bold ITC" panose="020B0907030504020204" pitchFamily="34" charset="0"/>
              </a:rPr>
              <a:t>edd!ng</a:t>
            </a:r>
            <a:r>
              <a:rPr lang="en-US" sz="88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Eras Bold ITC" panose="020B0907030504020204" pitchFamily="34" charset="0"/>
              </a:rPr>
              <a:t>s</a:t>
            </a:r>
            <a:endParaRPr lang="en-US" sz="8800" dirty="0" smtClean="0">
              <a:ln w="0"/>
              <a:solidFill>
                <a:schemeClr val="bg2">
                  <a:lumMod val="1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mic Sans MS" panose="030F0702030302020204" pitchFamily="66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711742" y="4960682"/>
            <a:ext cx="3874268" cy="307777"/>
          </a:xfrm>
          <a:prstGeom prst="rect">
            <a:avLst/>
          </a:prstGeom>
          <a:solidFill>
            <a:schemeClr val="tx1"/>
          </a:solidFill>
          <a:ln>
            <a:solidFill>
              <a:schemeClr val="bg1">
                <a:lumMod val="9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>
                <a:solidFill>
                  <a:schemeClr val="bg1">
                    <a:lumMod val="95000"/>
                  </a:schemeClr>
                </a:solidFill>
                <a:latin typeface="Berlin Sans FB Demi" panose="020E0802020502020306" pitchFamily="34" charset="0"/>
              </a:rPr>
              <a:t>CAPTURING MEANING IN NUMBERS</a:t>
            </a:r>
            <a:endParaRPr lang="en-US" sz="1400" dirty="0">
              <a:solidFill>
                <a:schemeClr val="bg1">
                  <a:lumMod val="95000"/>
                </a:schemeClr>
              </a:solidFill>
              <a:latin typeface="Berlin Sans FB Demi" panose="020E08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3468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490" y="0"/>
            <a:ext cx="1228049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6080" y="0"/>
            <a:ext cx="1257808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682240" y="0"/>
            <a:ext cx="9509760" cy="6858000"/>
          </a:xfrm>
          <a:prstGeom prst="rect">
            <a:avLst/>
          </a:prstGeom>
          <a:solidFill>
            <a:schemeClr val="bg1">
              <a:alpha val="81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i="1" dirty="0" smtClean="0">
                <a:solidFill>
                  <a:srgbClr val="FFC000"/>
                </a:solidFill>
                <a:latin typeface="+mj-lt"/>
              </a:rPr>
              <a:t> </a:t>
            </a:r>
          </a:p>
          <a:p>
            <a:pPr algn="ctr"/>
            <a:endParaRPr lang="en-US" sz="6000" b="1" dirty="0" smtClean="0">
              <a:solidFill>
                <a:srgbClr val="FFFF00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9100" y="810250"/>
            <a:ext cx="2086661" cy="60939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Label encoding</a:t>
            </a:r>
          </a:p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One Hot Encoding</a:t>
            </a:r>
          </a:p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Term Doc Incidence Matrix</a:t>
            </a:r>
            <a:endParaRPr lang="en-US" sz="1200" b="1" dirty="0" smtClean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Bag Of Words</a:t>
            </a:r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TF-IDF</a:t>
            </a:r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Word </a:t>
            </a:r>
            <a:r>
              <a:rPr lang="en-US" sz="1200" b="1" dirty="0" err="1">
                <a:solidFill>
                  <a:schemeClr val="bg2">
                    <a:lumMod val="50000"/>
                  </a:schemeClr>
                </a:solidFill>
              </a:rPr>
              <a:t>E</a:t>
            </a:r>
            <a:r>
              <a:rPr lang="en-US" sz="1200" b="1" dirty="0" err="1" smtClean="0">
                <a:solidFill>
                  <a:schemeClr val="bg2">
                    <a:lumMod val="50000"/>
                  </a:schemeClr>
                </a:solidFill>
              </a:rPr>
              <a:t>mbeddings</a:t>
            </a:r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 </a:t>
            </a:r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K-Nearest Neighbors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Naïve Bayes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K-Means Clustering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Hierarchical Clustering</a:t>
            </a: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Principal Component Analysis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DBSCAN</a:t>
            </a: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Q-Learning</a:t>
            </a: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Deep Q-learning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Policy Gradient Method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1">
                  <a:lumMod val="50000"/>
                </a:schemeClr>
              </a:solidFill>
            </a:endParaRPr>
          </a:p>
          <a:p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3312496" y="2265328"/>
            <a:ext cx="8249248" cy="1015663"/>
          </a:xfrm>
          <a:prstGeom prst="rect">
            <a:avLst/>
          </a:prstGeom>
          <a:noFill/>
          <a:ln w="571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6000" dirty="0" smtClean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 </a:t>
            </a:r>
            <a:endParaRPr lang="en-US" sz="4000" dirty="0" smtClean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mic Sans MS" panose="030F0702030302020204" pitchFamily="66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060509" y="1088977"/>
            <a:ext cx="2753222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>
                <a:lumMod val="9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>
                    <a:lumMod val="95000"/>
                  </a:schemeClr>
                </a:solidFill>
                <a:latin typeface="Berlin Sans FB Demi" panose="020E0802020502020306" pitchFamily="34" charset="0"/>
              </a:rPr>
              <a:t>DISCUSSION POINT</a:t>
            </a:r>
            <a:endParaRPr lang="en-US" dirty="0">
              <a:solidFill>
                <a:schemeClr val="bg1">
                  <a:lumMod val="95000"/>
                </a:schemeClr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966360" y="2547286"/>
            <a:ext cx="6941520" cy="2000548"/>
          </a:xfrm>
          <a:prstGeom prst="rect">
            <a:avLst/>
          </a:prstGeom>
          <a:solidFill>
            <a:schemeClr val="tx1"/>
          </a:solidFill>
          <a:ln w="76200">
            <a:solidFill>
              <a:schemeClr val="tx2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US" sz="2400" b="1" dirty="0" smtClean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mic Sans MS" panose="030F0702030302020204" pitchFamily="66" charset="0"/>
            </a:endParaRPr>
          </a:p>
          <a:p>
            <a:pPr algn="ctr"/>
            <a:endParaRPr lang="en-US" sz="24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mic Sans MS" panose="030F0702030302020204" pitchFamily="66" charset="0"/>
            </a:endParaRPr>
          </a:p>
          <a:p>
            <a:pPr algn="ctr"/>
            <a:r>
              <a:rPr lang="en-US" sz="2400" b="1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BOY – HUT + PALACE = ? </a:t>
            </a:r>
          </a:p>
          <a:p>
            <a:pPr algn="ctr"/>
            <a:endParaRPr lang="en-US" sz="24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mic Sans MS" panose="030F0702030302020204" pitchFamily="66" charset="0"/>
            </a:endParaRPr>
          </a:p>
          <a:p>
            <a:pPr algn="ctr"/>
            <a:endParaRPr lang="en-US" sz="2800" b="1" dirty="0" smtClean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1484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490" y="0"/>
            <a:ext cx="1228049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6080" y="0"/>
            <a:ext cx="1257808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682240" y="0"/>
            <a:ext cx="9509760" cy="6858000"/>
          </a:xfrm>
          <a:prstGeom prst="rect">
            <a:avLst/>
          </a:prstGeom>
          <a:solidFill>
            <a:schemeClr val="bg1">
              <a:alpha val="8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i="1" dirty="0" smtClean="0">
                <a:solidFill>
                  <a:srgbClr val="FFC000"/>
                </a:solidFill>
                <a:latin typeface="+mj-lt"/>
              </a:rPr>
              <a:t> </a:t>
            </a:r>
          </a:p>
          <a:p>
            <a:pPr algn="ctr"/>
            <a:endParaRPr lang="en-US" sz="6000" b="1" dirty="0" smtClean="0">
              <a:solidFill>
                <a:srgbClr val="FFFF00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9100" y="810250"/>
            <a:ext cx="2086661" cy="60939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Label encoding</a:t>
            </a:r>
          </a:p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One Hot Encoding</a:t>
            </a:r>
          </a:p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Term Doc Incidence Matrix</a:t>
            </a:r>
            <a:endParaRPr lang="en-US" sz="1200" b="1" dirty="0" smtClean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Bag Of Words</a:t>
            </a:r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TF-IDF</a:t>
            </a:r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Word </a:t>
            </a:r>
            <a:r>
              <a:rPr lang="en-US" sz="1200" b="1" dirty="0" err="1">
                <a:solidFill>
                  <a:schemeClr val="bg2">
                    <a:lumMod val="50000"/>
                  </a:schemeClr>
                </a:solidFill>
              </a:rPr>
              <a:t>E</a:t>
            </a:r>
            <a:r>
              <a:rPr lang="en-US" sz="1200" b="1" dirty="0" err="1" smtClean="0">
                <a:solidFill>
                  <a:schemeClr val="bg2">
                    <a:lumMod val="50000"/>
                  </a:schemeClr>
                </a:solidFill>
              </a:rPr>
              <a:t>mbeddings</a:t>
            </a:r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 </a:t>
            </a:r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K-Nearest Neighbors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Naïve Bayes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K-Means Clustering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Hierarchical Clustering</a:t>
            </a: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Principal Component Analysis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DBSCAN</a:t>
            </a: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Q-Learning</a:t>
            </a: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Deep Q-learning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Policy Gradient Method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1">
                  <a:lumMod val="50000"/>
                </a:schemeClr>
              </a:solidFill>
            </a:endParaRPr>
          </a:p>
          <a:p>
            <a:endParaRPr lang="en-US" dirty="0"/>
          </a:p>
        </p:txBody>
      </p:sp>
      <p:grpSp>
        <p:nvGrpSpPr>
          <p:cNvPr id="14" name="Group 13"/>
          <p:cNvGrpSpPr/>
          <p:nvPr/>
        </p:nvGrpSpPr>
        <p:grpSpPr>
          <a:xfrm rot="1189895">
            <a:off x="3256701" y="950494"/>
            <a:ext cx="7516307" cy="4957011"/>
            <a:chOff x="2890941" y="1540042"/>
            <a:chExt cx="7516307" cy="4957011"/>
          </a:xfrm>
        </p:grpSpPr>
        <p:cxnSp>
          <p:nvCxnSpPr>
            <p:cNvPr id="8" name="Straight Arrow Connector 7"/>
            <p:cNvCxnSpPr/>
            <p:nvPr/>
          </p:nvCxnSpPr>
          <p:spPr>
            <a:xfrm flipV="1">
              <a:off x="6451265" y="2204185"/>
              <a:ext cx="3955983" cy="3012708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/>
            <p:cNvCxnSpPr/>
            <p:nvPr/>
          </p:nvCxnSpPr>
          <p:spPr>
            <a:xfrm flipH="1" flipV="1">
              <a:off x="2890941" y="1540042"/>
              <a:ext cx="3557985" cy="3686476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/>
            <p:nvPr/>
          </p:nvCxnSpPr>
          <p:spPr>
            <a:xfrm>
              <a:off x="6448926" y="5226518"/>
              <a:ext cx="0" cy="1270535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2" name="Picture 11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8534" y="2838625"/>
            <a:ext cx="457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/>
          <p:cNvSpPr txBox="1"/>
          <p:nvPr/>
        </p:nvSpPr>
        <p:spPr>
          <a:xfrm>
            <a:off x="3570576" y="1147144"/>
            <a:ext cx="3282612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>
                <a:lumMod val="9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>
                    <a:lumMod val="95000"/>
                  </a:schemeClr>
                </a:solidFill>
                <a:latin typeface="Berlin Sans FB Demi" panose="020E0802020502020306" pitchFamily="34" charset="0"/>
              </a:rPr>
              <a:t>What is a word embedding</a:t>
            </a:r>
            <a:endParaRPr lang="en-US" dirty="0">
              <a:solidFill>
                <a:schemeClr val="bg1">
                  <a:lumMod val="95000"/>
                </a:schemeClr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312496" y="1762219"/>
            <a:ext cx="8141567" cy="3970318"/>
          </a:xfrm>
          <a:prstGeom prst="rect">
            <a:avLst/>
          </a:prstGeom>
          <a:solidFill>
            <a:srgbClr val="053A41">
              <a:alpha val="23137"/>
            </a:srgbClr>
          </a:solidFill>
          <a:ln w="57150">
            <a:noFill/>
          </a:ln>
        </p:spPr>
        <p:txBody>
          <a:bodyPr wrap="square" rtlCol="0">
            <a:spAutoFit/>
          </a:bodyPr>
          <a:lstStyle/>
          <a:p>
            <a:pPr algn="ctr"/>
            <a:endParaRPr lang="en-US" sz="4800" dirty="0" smtClean="0">
              <a:ln w="0"/>
              <a:solidFill>
                <a:schemeClr val="bg2">
                  <a:lumMod val="1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mic Sans MS" panose="030F0702030302020204" pitchFamily="66" charset="0"/>
            </a:endParaRPr>
          </a:p>
          <a:p>
            <a:pPr algn="ctr"/>
            <a:r>
              <a:rPr lang="en-US" sz="4800" dirty="0" smtClean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It is A </a:t>
            </a:r>
            <a:r>
              <a:rPr lang="en-US" sz="4800" b="1" dirty="0" smtClean="0">
                <a:ln w="0"/>
                <a:solidFill>
                  <a:schemeClr val="accent5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vector representation </a:t>
            </a:r>
            <a:r>
              <a:rPr lang="en-US" sz="4800" dirty="0" smtClean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of a word in a set of vectors(</a:t>
            </a:r>
            <a:r>
              <a:rPr lang="en-US" sz="4800" b="1" dirty="0" smtClean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space</a:t>
            </a:r>
            <a:r>
              <a:rPr lang="en-US" sz="4800" dirty="0" smtClean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)</a:t>
            </a:r>
          </a:p>
          <a:p>
            <a:pPr algn="ctr"/>
            <a:r>
              <a:rPr lang="en-US" sz="6000" dirty="0" smtClean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 </a:t>
            </a:r>
            <a:endParaRPr lang="en-US" sz="4000" dirty="0" smtClean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3195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490" y="0"/>
            <a:ext cx="1228049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6080" y="0"/>
            <a:ext cx="1257808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682240" y="0"/>
            <a:ext cx="9509760" cy="6858000"/>
          </a:xfrm>
          <a:prstGeom prst="rect">
            <a:avLst/>
          </a:prstGeom>
          <a:solidFill>
            <a:schemeClr val="bg1">
              <a:alpha val="8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i="1" dirty="0" smtClean="0">
                <a:solidFill>
                  <a:srgbClr val="FFC000"/>
                </a:solidFill>
                <a:latin typeface="+mj-lt"/>
              </a:rPr>
              <a:t> </a:t>
            </a:r>
          </a:p>
          <a:p>
            <a:pPr algn="ctr"/>
            <a:endParaRPr lang="en-US" sz="6000" b="1" dirty="0" smtClean="0">
              <a:solidFill>
                <a:srgbClr val="FFFF00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9100" y="810250"/>
            <a:ext cx="2086661" cy="60939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Label encoding</a:t>
            </a:r>
          </a:p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One Hot Encoding</a:t>
            </a:r>
          </a:p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Term Doc Incidence Matrix</a:t>
            </a:r>
            <a:endParaRPr lang="en-US" sz="1200" b="1" dirty="0" smtClean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Bag Of Words</a:t>
            </a:r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TF-IDF</a:t>
            </a:r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Word </a:t>
            </a:r>
            <a:r>
              <a:rPr lang="en-US" sz="1200" b="1" dirty="0" err="1">
                <a:solidFill>
                  <a:schemeClr val="bg2">
                    <a:lumMod val="50000"/>
                  </a:schemeClr>
                </a:solidFill>
              </a:rPr>
              <a:t>E</a:t>
            </a:r>
            <a:r>
              <a:rPr lang="en-US" sz="1200" b="1" dirty="0" err="1" smtClean="0">
                <a:solidFill>
                  <a:schemeClr val="bg2">
                    <a:lumMod val="50000"/>
                  </a:schemeClr>
                </a:solidFill>
              </a:rPr>
              <a:t>mbeddings</a:t>
            </a:r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 </a:t>
            </a:r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K-Nearest Neighbors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Naïve Bayes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K-Means Clustering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Hierarchical Clustering</a:t>
            </a: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Principal Component Analysis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DBSCAN</a:t>
            </a: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Q-Learning</a:t>
            </a: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Deep Q-learning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Policy Gradient Method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1">
                  <a:lumMod val="50000"/>
                </a:schemeClr>
              </a:solidFill>
            </a:endParaRPr>
          </a:p>
          <a:p>
            <a:endParaRPr lang="en-US" dirty="0"/>
          </a:p>
        </p:txBody>
      </p:sp>
      <p:grpSp>
        <p:nvGrpSpPr>
          <p:cNvPr id="14" name="Group 13"/>
          <p:cNvGrpSpPr/>
          <p:nvPr/>
        </p:nvGrpSpPr>
        <p:grpSpPr>
          <a:xfrm rot="1189895">
            <a:off x="3256701" y="950494"/>
            <a:ext cx="7516307" cy="4957011"/>
            <a:chOff x="2890941" y="1540042"/>
            <a:chExt cx="7516307" cy="4957011"/>
          </a:xfrm>
        </p:grpSpPr>
        <p:cxnSp>
          <p:nvCxnSpPr>
            <p:cNvPr id="8" name="Straight Arrow Connector 7"/>
            <p:cNvCxnSpPr/>
            <p:nvPr/>
          </p:nvCxnSpPr>
          <p:spPr>
            <a:xfrm flipV="1">
              <a:off x="6451265" y="2204185"/>
              <a:ext cx="3955983" cy="3012708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/>
            <p:cNvCxnSpPr/>
            <p:nvPr/>
          </p:nvCxnSpPr>
          <p:spPr>
            <a:xfrm flipH="1" flipV="1">
              <a:off x="2890941" y="1540042"/>
              <a:ext cx="3557985" cy="3686476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/>
            <p:nvPr/>
          </p:nvCxnSpPr>
          <p:spPr>
            <a:xfrm>
              <a:off x="6448926" y="5226518"/>
              <a:ext cx="0" cy="1270535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2" name="Picture 11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8534" y="2838625"/>
            <a:ext cx="457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/>
          <p:cNvSpPr txBox="1"/>
          <p:nvPr/>
        </p:nvSpPr>
        <p:spPr>
          <a:xfrm>
            <a:off x="3570576" y="1147144"/>
            <a:ext cx="3282612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>
                <a:lumMod val="9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>
                    <a:lumMod val="95000"/>
                  </a:schemeClr>
                </a:solidFill>
                <a:latin typeface="Berlin Sans FB Demi" panose="020E0802020502020306" pitchFamily="34" charset="0"/>
              </a:rPr>
              <a:t>What is an  embedding model </a:t>
            </a:r>
            <a:endParaRPr lang="en-US" dirty="0">
              <a:solidFill>
                <a:schemeClr val="bg1">
                  <a:lumMod val="95000"/>
                </a:schemeClr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312496" y="1762219"/>
            <a:ext cx="8141567" cy="3970318"/>
          </a:xfrm>
          <a:prstGeom prst="rect">
            <a:avLst/>
          </a:prstGeom>
          <a:solidFill>
            <a:srgbClr val="053A41">
              <a:alpha val="23137"/>
            </a:srgbClr>
          </a:solidFill>
          <a:ln w="57150">
            <a:noFill/>
          </a:ln>
        </p:spPr>
        <p:txBody>
          <a:bodyPr wrap="square" rtlCol="0">
            <a:spAutoFit/>
          </a:bodyPr>
          <a:lstStyle/>
          <a:p>
            <a:pPr algn="ctr"/>
            <a:endParaRPr lang="en-US" sz="4800" dirty="0" smtClean="0">
              <a:ln w="0"/>
              <a:solidFill>
                <a:schemeClr val="bg2">
                  <a:lumMod val="1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mic Sans MS" panose="030F0702030302020204" pitchFamily="66" charset="0"/>
            </a:endParaRPr>
          </a:p>
          <a:p>
            <a:pPr algn="ctr"/>
            <a:r>
              <a:rPr lang="en-US" sz="4800" dirty="0" smtClean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It is A </a:t>
            </a:r>
            <a:r>
              <a:rPr lang="en-US" sz="4800" b="1" dirty="0" smtClean="0">
                <a:ln w="0"/>
                <a:solidFill>
                  <a:schemeClr val="accent5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model responsible </a:t>
            </a:r>
            <a:r>
              <a:rPr lang="en-US" sz="4800" dirty="0" smtClean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for generating word  </a:t>
            </a:r>
            <a:r>
              <a:rPr lang="en-US" sz="4800" dirty="0" err="1" smtClean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embeddings</a:t>
            </a:r>
            <a:r>
              <a:rPr lang="en-US" sz="4800" dirty="0" smtClean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(</a:t>
            </a:r>
            <a:r>
              <a:rPr lang="en-US" sz="4800" b="1" dirty="0" smtClean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space</a:t>
            </a:r>
            <a:r>
              <a:rPr lang="en-US" sz="4800" dirty="0" smtClean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)</a:t>
            </a:r>
          </a:p>
          <a:p>
            <a:pPr algn="ctr"/>
            <a:r>
              <a:rPr lang="en-US" sz="6000" dirty="0" smtClean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 </a:t>
            </a:r>
            <a:endParaRPr lang="en-US" sz="4000" dirty="0" smtClean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7234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490" y="0"/>
            <a:ext cx="1228049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6080" y="0"/>
            <a:ext cx="1257808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682240" y="0"/>
            <a:ext cx="9509760" cy="6858000"/>
          </a:xfrm>
          <a:prstGeom prst="rect">
            <a:avLst/>
          </a:prstGeom>
          <a:solidFill>
            <a:schemeClr val="bg1">
              <a:alpha val="8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i="1" dirty="0" smtClean="0">
                <a:solidFill>
                  <a:srgbClr val="FFC000"/>
                </a:solidFill>
                <a:latin typeface="+mj-lt"/>
              </a:rPr>
              <a:t> </a:t>
            </a:r>
          </a:p>
          <a:p>
            <a:pPr algn="ctr"/>
            <a:endParaRPr lang="en-US" sz="6000" b="1" dirty="0" smtClean="0">
              <a:solidFill>
                <a:srgbClr val="FFFF00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9100" y="810250"/>
            <a:ext cx="2086661" cy="59093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Linear Regression</a:t>
            </a:r>
          </a:p>
          <a:p>
            <a:r>
              <a:rPr lang="en-US" sz="12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Logistic Regression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Decision Tree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Random forest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Support Vector Machine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K-Nearest Neighbors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Naïve Bayes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K-Means Clustering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Hierarchical Clustering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Principal Component Analysis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DBSCAN</a:t>
            </a: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Q-Learning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Deep Q-learning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Policy Gradient Method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1">
                  <a:lumMod val="50000"/>
                </a:schemeClr>
              </a:solidFill>
            </a:endParaRPr>
          </a:p>
          <a:p>
            <a:endParaRPr lang="en-US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984" y="335905"/>
            <a:ext cx="457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2223" y="-2167864"/>
            <a:ext cx="457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/>
          <p:cNvSpPr txBox="1"/>
          <p:nvPr/>
        </p:nvSpPr>
        <p:spPr>
          <a:xfrm>
            <a:off x="5099616" y="3062314"/>
            <a:ext cx="467500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 smtClean="0">
                <a:latin typeface="Eras Bold ITC" panose="020B0907030504020204" pitchFamily="34" charset="0"/>
              </a:rPr>
              <a:t>Thank </a:t>
            </a:r>
            <a:r>
              <a:rPr lang="en-US" sz="5400" dirty="0" smtClean="0">
                <a:solidFill>
                  <a:schemeClr val="bg1">
                    <a:lumMod val="50000"/>
                  </a:schemeClr>
                </a:solidFill>
                <a:latin typeface="Eras Bold ITC" panose="020B0907030504020204" pitchFamily="34" charset="0"/>
              </a:rPr>
              <a:t>you</a:t>
            </a:r>
            <a:r>
              <a:rPr lang="en-US" sz="5400" dirty="0" smtClean="0">
                <a:latin typeface="Eras Bold ITC" panose="020B0907030504020204" pitchFamily="34" charset="0"/>
              </a:rPr>
              <a:t> !</a:t>
            </a:r>
            <a:endParaRPr lang="en-US" sz="5400" dirty="0">
              <a:latin typeface="Eras Bold ITC" panose="020B0907030504020204" pitchFamily="34" charset="0"/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7393" y="3062314"/>
            <a:ext cx="4572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7802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28166</TotalTime>
  <Words>2075</Words>
  <Application>Microsoft Office PowerPoint</Application>
  <PresentationFormat>Widescreen</PresentationFormat>
  <Paragraphs>1292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7" baseType="lpstr">
      <vt:lpstr>Arial</vt:lpstr>
      <vt:lpstr>Bahnschrift</vt:lpstr>
      <vt:lpstr>Berlin Sans FB Demi</vt:lpstr>
      <vt:lpstr>Calibri</vt:lpstr>
      <vt:lpstr>Calibri Light</vt:lpstr>
      <vt:lpstr>Cambria Math</vt:lpstr>
      <vt:lpstr>Comic Sans MS</vt:lpstr>
      <vt:lpstr>Courier New</vt:lpstr>
      <vt:lpstr>Eras Bold ITC</vt:lpstr>
      <vt:lpstr>Franklin Gothic Demi</vt:lpstr>
      <vt:lpstr>Tempus Sans ITC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Leo</dc:creator>
  <cp:lastModifiedBy>Microsoft account</cp:lastModifiedBy>
  <cp:revision>205</cp:revision>
  <dcterms:created xsi:type="dcterms:W3CDTF">2025-04-07T08:36:07Z</dcterms:created>
  <dcterms:modified xsi:type="dcterms:W3CDTF">2026-07-14T14:04:49Z</dcterms:modified>
</cp:coreProperties>
</file>